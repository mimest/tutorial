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4" r:id="rId2"/>
    <p:sldId id="325" r:id="rId3"/>
    <p:sldId id="257" r:id="rId4"/>
    <p:sldId id="258" r:id="rId5"/>
    <p:sldId id="259" r:id="rId6"/>
    <p:sldId id="283" r:id="rId7"/>
    <p:sldId id="260" r:id="rId8"/>
    <p:sldId id="261" r:id="rId9"/>
    <p:sldId id="262" r:id="rId10"/>
    <p:sldId id="263" r:id="rId11"/>
    <p:sldId id="264" r:id="rId12"/>
    <p:sldId id="265" r:id="rId13"/>
    <p:sldId id="266" r:id="rId14"/>
    <p:sldId id="267" r:id="rId15"/>
    <p:sldId id="268" r:id="rId16"/>
    <p:sldId id="269" r:id="rId17"/>
    <p:sldId id="270" r:id="rId18"/>
    <p:sldId id="272" r:id="rId19"/>
    <p:sldId id="273" r:id="rId20"/>
    <p:sldId id="282" r:id="rId21"/>
    <p:sldId id="274" r:id="rId22"/>
    <p:sldId id="275" r:id="rId23"/>
    <p:sldId id="276" r:id="rId24"/>
    <p:sldId id="277" r:id="rId25"/>
    <p:sldId id="278" r:id="rId26"/>
    <p:sldId id="279" r:id="rId27"/>
    <p:sldId id="280"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Lst>
  <p:sldSz cx="12192000" cy="6858000"/>
  <p:notesSz cx="9929813" cy="679926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230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p:cNvSpPr>
            <a:spLocks noGrp="1"/>
          </p:cNvSpPr>
          <p:nvPr>
            <p:ph type="dt" sz="half" idx="10"/>
          </p:nvPr>
        </p:nvSpPr>
        <p:spPr/>
        <p:txBody>
          <a:bodyPr/>
          <a:lstStyle/>
          <a:p>
            <a:fld id="{BB4B20F3-C77D-4149-AB8E-8BA4DC0FF939}" type="datetimeFigureOut">
              <a:rPr lang="en-US" smtClean="0"/>
              <a:t>11/9/2022</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0E41E48D-B869-4043-B43F-2E767FBF010E}" type="slidenum">
              <a:rPr lang="en-US" smtClean="0"/>
              <a:t>‹#›</a:t>
            </a:fld>
            <a:endParaRPr lang="en-US"/>
          </a:p>
        </p:txBody>
      </p:sp>
    </p:spTree>
    <p:extLst>
      <p:ext uri="{BB962C8B-B14F-4D97-AF65-F5344CB8AC3E}">
        <p14:creationId xmlns:p14="http://schemas.microsoft.com/office/powerpoint/2010/main" val="301630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p:cNvSpPr>
            <a:spLocks noGrp="1"/>
          </p:cNvSpPr>
          <p:nvPr>
            <p:ph type="dt" sz="half" idx="10"/>
          </p:nvPr>
        </p:nvSpPr>
        <p:spPr/>
        <p:txBody>
          <a:bodyPr/>
          <a:lstStyle/>
          <a:p>
            <a:fld id="{BB4B20F3-C77D-4149-AB8E-8BA4DC0FF939}" type="datetimeFigureOut">
              <a:rPr lang="en-US" smtClean="0"/>
              <a:t>11/9/2022</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0E41E48D-B869-4043-B43F-2E767FBF010E}" type="slidenum">
              <a:rPr lang="en-US" smtClean="0"/>
              <a:t>‹#›</a:t>
            </a:fld>
            <a:endParaRPr lang="en-US"/>
          </a:p>
        </p:txBody>
      </p:sp>
    </p:spTree>
    <p:extLst>
      <p:ext uri="{BB962C8B-B14F-4D97-AF65-F5344CB8AC3E}">
        <p14:creationId xmlns:p14="http://schemas.microsoft.com/office/powerpoint/2010/main" val="2957757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BB4B20F3-C77D-4149-AB8E-8BA4DC0FF939}" type="datetimeFigureOut">
              <a:rPr lang="en-US" smtClean="0"/>
              <a:t>11/9/2022</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0E41E48D-B869-4043-B43F-2E767FBF010E}" type="slidenum">
              <a:rPr lang="en-US" smtClean="0"/>
              <a:t>‹#›</a:t>
            </a:fld>
            <a:endParaRPr lang="en-US"/>
          </a:p>
        </p:txBody>
      </p:sp>
    </p:spTree>
    <p:extLst>
      <p:ext uri="{BB962C8B-B14F-4D97-AF65-F5344CB8AC3E}">
        <p14:creationId xmlns:p14="http://schemas.microsoft.com/office/powerpoint/2010/main" val="1163041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날짜 개체 틀 4"/>
          <p:cNvSpPr>
            <a:spLocks noGrp="1"/>
          </p:cNvSpPr>
          <p:nvPr>
            <p:ph type="dt" sz="half" idx="10"/>
          </p:nvPr>
        </p:nvSpPr>
        <p:spPr/>
        <p:txBody>
          <a:bodyPr/>
          <a:lstStyle/>
          <a:p>
            <a:fld id="{BB4B20F3-C77D-4149-AB8E-8BA4DC0FF939}" type="datetimeFigureOut">
              <a:rPr lang="en-US" smtClean="0"/>
              <a:t>11/9/2022</a:t>
            </a:fld>
            <a:endParaRPr lang="en-US"/>
          </a:p>
        </p:txBody>
      </p:sp>
      <p:sp>
        <p:nvSpPr>
          <p:cNvPr id="6" name="바닥글 개체 틀 5"/>
          <p:cNvSpPr>
            <a:spLocks noGrp="1"/>
          </p:cNvSpPr>
          <p:nvPr>
            <p:ph type="ftr" sz="quarter" idx="11"/>
          </p:nvPr>
        </p:nvSpPr>
        <p:spPr/>
        <p:txBody>
          <a:bodyPr/>
          <a:lstStyle/>
          <a:p>
            <a:endParaRPr lang="en-US"/>
          </a:p>
        </p:txBody>
      </p:sp>
      <p:sp>
        <p:nvSpPr>
          <p:cNvPr id="7" name="슬라이드 번호 개체 틀 6"/>
          <p:cNvSpPr>
            <a:spLocks noGrp="1"/>
          </p:cNvSpPr>
          <p:nvPr>
            <p:ph type="sldNum" sz="quarter" idx="12"/>
          </p:nvPr>
        </p:nvSpPr>
        <p:spPr/>
        <p:txBody>
          <a:bodyPr/>
          <a:lstStyle/>
          <a:p>
            <a:fld id="{0E41E48D-B869-4043-B43F-2E767FBF010E}" type="slidenum">
              <a:rPr lang="en-US" smtClean="0"/>
              <a:t>‹#›</a:t>
            </a:fld>
            <a:endParaRPr lang="en-US"/>
          </a:p>
        </p:txBody>
      </p:sp>
    </p:spTree>
    <p:extLst>
      <p:ext uri="{BB962C8B-B14F-4D97-AF65-F5344CB8AC3E}">
        <p14:creationId xmlns:p14="http://schemas.microsoft.com/office/powerpoint/2010/main" val="4185142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날짜 개체 틀 6"/>
          <p:cNvSpPr>
            <a:spLocks noGrp="1"/>
          </p:cNvSpPr>
          <p:nvPr>
            <p:ph type="dt" sz="half" idx="10"/>
          </p:nvPr>
        </p:nvSpPr>
        <p:spPr/>
        <p:txBody>
          <a:bodyPr/>
          <a:lstStyle/>
          <a:p>
            <a:fld id="{BB4B20F3-C77D-4149-AB8E-8BA4DC0FF939}" type="datetimeFigureOut">
              <a:rPr lang="en-US" smtClean="0"/>
              <a:t>11/9/2022</a:t>
            </a:fld>
            <a:endParaRPr lang="en-US"/>
          </a:p>
        </p:txBody>
      </p:sp>
      <p:sp>
        <p:nvSpPr>
          <p:cNvPr id="8" name="바닥글 개체 틀 7"/>
          <p:cNvSpPr>
            <a:spLocks noGrp="1"/>
          </p:cNvSpPr>
          <p:nvPr>
            <p:ph type="ftr" sz="quarter" idx="11"/>
          </p:nvPr>
        </p:nvSpPr>
        <p:spPr/>
        <p:txBody>
          <a:bodyPr/>
          <a:lstStyle/>
          <a:p>
            <a:endParaRPr lang="en-US"/>
          </a:p>
        </p:txBody>
      </p:sp>
      <p:sp>
        <p:nvSpPr>
          <p:cNvPr id="9" name="슬라이드 번호 개체 틀 8"/>
          <p:cNvSpPr>
            <a:spLocks noGrp="1"/>
          </p:cNvSpPr>
          <p:nvPr>
            <p:ph type="sldNum" sz="quarter" idx="12"/>
          </p:nvPr>
        </p:nvSpPr>
        <p:spPr/>
        <p:txBody>
          <a:bodyPr/>
          <a:lstStyle/>
          <a:p>
            <a:fld id="{0E41E48D-B869-4043-B43F-2E767FBF010E}" type="slidenum">
              <a:rPr lang="en-US" smtClean="0"/>
              <a:t>‹#›</a:t>
            </a:fld>
            <a:endParaRPr lang="en-US"/>
          </a:p>
        </p:txBody>
      </p:sp>
    </p:spTree>
    <p:extLst>
      <p:ext uri="{BB962C8B-B14F-4D97-AF65-F5344CB8AC3E}">
        <p14:creationId xmlns:p14="http://schemas.microsoft.com/office/powerpoint/2010/main" val="651979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날짜 개체 틀 2"/>
          <p:cNvSpPr>
            <a:spLocks noGrp="1"/>
          </p:cNvSpPr>
          <p:nvPr>
            <p:ph type="dt" sz="half" idx="10"/>
          </p:nvPr>
        </p:nvSpPr>
        <p:spPr/>
        <p:txBody>
          <a:bodyPr/>
          <a:lstStyle/>
          <a:p>
            <a:fld id="{BB4B20F3-C77D-4149-AB8E-8BA4DC0FF939}" type="datetimeFigureOut">
              <a:rPr lang="en-US" smtClean="0"/>
              <a:t>11/9/2022</a:t>
            </a:fld>
            <a:endParaRPr lang="en-US"/>
          </a:p>
        </p:txBody>
      </p:sp>
      <p:sp>
        <p:nvSpPr>
          <p:cNvPr id="4" name="바닥글 개체 틀 3"/>
          <p:cNvSpPr>
            <a:spLocks noGrp="1"/>
          </p:cNvSpPr>
          <p:nvPr>
            <p:ph type="ftr" sz="quarter" idx="11"/>
          </p:nvPr>
        </p:nvSpPr>
        <p:spPr/>
        <p:txBody>
          <a:bodyPr/>
          <a:lstStyle/>
          <a:p>
            <a:endParaRPr lang="en-US"/>
          </a:p>
        </p:txBody>
      </p:sp>
      <p:sp>
        <p:nvSpPr>
          <p:cNvPr id="5" name="슬라이드 번호 개체 틀 4"/>
          <p:cNvSpPr>
            <a:spLocks noGrp="1"/>
          </p:cNvSpPr>
          <p:nvPr>
            <p:ph type="sldNum" sz="quarter" idx="12"/>
          </p:nvPr>
        </p:nvSpPr>
        <p:spPr/>
        <p:txBody>
          <a:bodyPr/>
          <a:lstStyle/>
          <a:p>
            <a:fld id="{0E41E48D-B869-4043-B43F-2E767FBF010E}" type="slidenum">
              <a:rPr lang="en-US" smtClean="0"/>
              <a:t>‹#›</a:t>
            </a:fld>
            <a:endParaRPr lang="en-US"/>
          </a:p>
        </p:txBody>
      </p:sp>
    </p:spTree>
    <p:extLst>
      <p:ext uri="{BB962C8B-B14F-4D97-AF65-F5344CB8AC3E}">
        <p14:creationId xmlns:p14="http://schemas.microsoft.com/office/powerpoint/2010/main" val="1667856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B4B20F3-C77D-4149-AB8E-8BA4DC0FF939}" type="datetimeFigureOut">
              <a:rPr lang="en-US" smtClean="0"/>
              <a:t>11/9/2022</a:t>
            </a:fld>
            <a:endParaRPr lang="en-US"/>
          </a:p>
        </p:txBody>
      </p:sp>
      <p:sp>
        <p:nvSpPr>
          <p:cNvPr id="3" name="바닥글 개체 틀 2"/>
          <p:cNvSpPr>
            <a:spLocks noGrp="1"/>
          </p:cNvSpPr>
          <p:nvPr>
            <p:ph type="ftr" sz="quarter" idx="11"/>
          </p:nvPr>
        </p:nvSpPr>
        <p:spPr/>
        <p:txBody>
          <a:bodyPr/>
          <a:lstStyle/>
          <a:p>
            <a:endParaRPr lang="en-US"/>
          </a:p>
        </p:txBody>
      </p:sp>
      <p:sp>
        <p:nvSpPr>
          <p:cNvPr id="4" name="슬라이드 번호 개체 틀 3"/>
          <p:cNvSpPr>
            <a:spLocks noGrp="1"/>
          </p:cNvSpPr>
          <p:nvPr>
            <p:ph type="sldNum" sz="quarter" idx="12"/>
          </p:nvPr>
        </p:nvSpPr>
        <p:spPr/>
        <p:txBody>
          <a:bodyPr/>
          <a:lstStyle/>
          <a:p>
            <a:fld id="{0E41E48D-B869-4043-B43F-2E767FBF010E}" type="slidenum">
              <a:rPr lang="en-US" smtClean="0"/>
              <a:t>‹#›</a:t>
            </a:fld>
            <a:endParaRPr lang="en-US"/>
          </a:p>
        </p:txBody>
      </p:sp>
    </p:spTree>
    <p:extLst>
      <p:ext uri="{BB962C8B-B14F-4D97-AF65-F5344CB8AC3E}">
        <p14:creationId xmlns:p14="http://schemas.microsoft.com/office/powerpoint/2010/main" val="873965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BB4B20F3-C77D-4149-AB8E-8BA4DC0FF939}" type="datetimeFigureOut">
              <a:rPr lang="en-US" smtClean="0"/>
              <a:t>11/9/2022</a:t>
            </a:fld>
            <a:endParaRPr lang="en-US"/>
          </a:p>
        </p:txBody>
      </p:sp>
      <p:sp>
        <p:nvSpPr>
          <p:cNvPr id="6" name="바닥글 개체 틀 5"/>
          <p:cNvSpPr>
            <a:spLocks noGrp="1"/>
          </p:cNvSpPr>
          <p:nvPr>
            <p:ph type="ftr" sz="quarter" idx="11"/>
          </p:nvPr>
        </p:nvSpPr>
        <p:spPr/>
        <p:txBody>
          <a:bodyPr/>
          <a:lstStyle/>
          <a:p>
            <a:endParaRPr lang="en-US"/>
          </a:p>
        </p:txBody>
      </p:sp>
      <p:sp>
        <p:nvSpPr>
          <p:cNvPr id="7" name="슬라이드 번호 개체 틀 6"/>
          <p:cNvSpPr>
            <a:spLocks noGrp="1"/>
          </p:cNvSpPr>
          <p:nvPr>
            <p:ph type="sldNum" sz="quarter" idx="12"/>
          </p:nvPr>
        </p:nvSpPr>
        <p:spPr/>
        <p:txBody>
          <a:bodyPr/>
          <a:lstStyle/>
          <a:p>
            <a:fld id="{0E41E48D-B869-4043-B43F-2E767FBF010E}" type="slidenum">
              <a:rPr lang="en-US" smtClean="0"/>
              <a:t>‹#›</a:t>
            </a:fld>
            <a:endParaRPr lang="en-US"/>
          </a:p>
        </p:txBody>
      </p:sp>
    </p:spTree>
    <p:extLst>
      <p:ext uri="{BB962C8B-B14F-4D97-AF65-F5344CB8AC3E}">
        <p14:creationId xmlns:p14="http://schemas.microsoft.com/office/powerpoint/2010/main" val="330402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BB4B20F3-C77D-4149-AB8E-8BA4DC0FF939}" type="datetimeFigureOut">
              <a:rPr lang="en-US" smtClean="0"/>
              <a:t>11/9/2022</a:t>
            </a:fld>
            <a:endParaRPr lang="en-US"/>
          </a:p>
        </p:txBody>
      </p:sp>
      <p:sp>
        <p:nvSpPr>
          <p:cNvPr id="6" name="바닥글 개체 틀 5"/>
          <p:cNvSpPr>
            <a:spLocks noGrp="1"/>
          </p:cNvSpPr>
          <p:nvPr>
            <p:ph type="ftr" sz="quarter" idx="11"/>
          </p:nvPr>
        </p:nvSpPr>
        <p:spPr/>
        <p:txBody>
          <a:bodyPr/>
          <a:lstStyle/>
          <a:p>
            <a:endParaRPr lang="en-US"/>
          </a:p>
        </p:txBody>
      </p:sp>
      <p:sp>
        <p:nvSpPr>
          <p:cNvPr id="7" name="슬라이드 번호 개체 틀 6"/>
          <p:cNvSpPr>
            <a:spLocks noGrp="1"/>
          </p:cNvSpPr>
          <p:nvPr>
            <p:ph type="sldNum" sz="quarter" idx="12"/>
          </p:nvPr>
        </p:nvSpPr>
        <p:spPr/>
        <p:txBody>
          <a:bodyPr/>
          <a:lstStyle/>
          <a:p>
            <a:fld id="{0E41E48D-B869-4043-B43F-2E767FBF010E}" type="slidenum">
              <a:rPr lang="en-US" smtClean="0"/>
              <a:t>‹#›</a:t>
            </a:fld>
            <a:endParaRPr lang="en-US"/>
          </a:p>
        </p:txBody>
      </p:sp>
    </p:spTree>
    <p:extLst>
      <p:ext uri="{BB962C8B-B14F-4D97-AF65-F5344CB8AC3E}">
        <p14:creationId xmlns:p14="http://schemas.microsoft.com/office/powerpoint/2010/main" val="116222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p:cNvSpPr>
            <a:spLocks noGrp="1"/>
          </p:cNvSpPr>
          <p:nvPr>
            <p:ph type="dt" sz="half" idx="10"/>
          </p:nvPr>
        </p:nvSpPr>
        <p:spPr/>
        <p:txBody>
          <a:bodyPr/>
          <a:lstStyle/>
          <a:p>
            <a:fld id="{BB4B20F3-C77D-4149-AB8E-8BA4DC0FF939}" type="datetimeFigureOut">
              <a:rPr lang="en-US" smtClean="0"/>
              <a:t>11/9/2022</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0E41E48D-B869-4043-B43F-2E767FBF010E}" type="slidenum">
              <a:rPr lang="en-US" smtClean="0"/>
              <a:t>‹#›</a:t>
            </a:fld>
            <a:endParaRPr lang="en-US"/>
          </a:p>
        </p:txBody>
      </p:sp>
    </p:spTree>
    <p:extLst>
      <p:ext uri="{BB962C8B-B14F-4D97-AF65-F5344CB8AC3E}">
        <p14:creationId xmlns:p14="http://schemas.microsoft.com/office/powerpoint/2010/main" val="3854690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p:cNvSpPr>
            <a:spLocks noGrp="1"/>
          </p:cNvSpPr>
          <p:nvPr>
            <p:ph type="dt" sz="half" idx="10"/>
          </p:nvPr>
        </p:nvSpPr>
        <p:spPr/>
        <p:txBody>
          <a:bodyPr/>
          <a:lstStyle/>
          <a:p>
            <a:fld id="{BB4B20F3-C77D-4149-AB8E-8BA4DC0FF939}" type="datetimeFigureOut">
              <a:rPr lang="en-US" smtClean="0"/>
              <a:t>11/9/2022</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0E41E48D-B869-4043-B43F-2E767FBF010E}" type="slidenum">
              <a:rPr lang="en-US" smtClean="0"/>
              <a:t>‹#›</a:t>
            </a:fld>
            <a:endParaRPr lang="en-US"/>
          </a:p>
        </p:txBody>
      </p:sp>
    </p:spTree>
    <p:extLst>
      <p:ext uri="{BB962C8B-B14F-4D97-AF65-F5344CB8AC3E}">
        <p14:creationId xmlns:p14="http://schemas.microsoft.com/office/powerpoint/2010/main" val="620657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4B20F3-C77D-4149-AB8E-8BA4DC0FF939}" type="datetimeFigureOut">
              <a:rPr lang="en-US" smtClean="0"/>
              <a:t>11/9/2022</a:t>
            </a:fld>
            <a:endParaRPr 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1E48D-B869-4043-B43F-2E767FBF010E}" type="slidenum">
              <a:rPr lang="en-US" smtClean="0"/>
              <a:t>‹#›</a:t>
            </a:fld>
            <a:endParaRPr lang="en-US"/>
          </a:p>
        </p:txBody>
      </p:sp>
    </p:spTree>
    <p:extLst>
      <p:ext uri="{BB962C8B-B14F-4D97-AF65-F5344CB8AC3E}">
        <p14:creationId xmlns:p14="http://schemas.microsoft.com/office/powerpoint/2010/main" val="454999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ncbi.nlm.nih.gov/pubmed/26813401" TargetMode="External"/><Relationship Id="rId2" Type="http://schemas.openxmlformats.org/officeDocument/2006/relationships/hyperlink" Target="https://www.nature.com/articles/s41576-019-0150-2"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r>
              <a:rPr lang="en-US" altLang="ko-KR"/>
              <a:t>Lecture 11</a:t>
            </a:r>
            <a:endParaRPr lang="en-US" dirty="0"/>
          </a:p>
        </p:txBody>
      </p:sp>
      <p:sp>
        <p:nvSpPr>
          <p:cNvPr id="3" name="부제목 2"/>
          <p:cNvSpPr>
            <a:spLocks noGrp="1"/>
          </p:cNvSpPr>
          <p:nvPr>
            <p:ph type="subTitle" idx="1"/>
          </p:nvPr>
        </p:nvSpPr>
        <p:spPr/>
        <p:txBody>
          <a:bodyPr/>
          <a:lstStyle/>
          <a:p>
            <a:r>
              <a:rPr lang="en-US" dirty="0"/>
              <a:t>RNA-</a:t>
            </a:r>
            <a:r>
              <a:rPr lang="en-US" dirty="0" err="1"/>
              <a:t>seq</a:t>
            </a:r>
            <a:r>
              <a:rPr lang="en-US"/>
              <a:t>: Introduction</a:t>
            </a:r>
            <a:endParaRPr lang="en-US" dirty="0"/>
          </a:p>
        </p:txBody>
      </p:sp>
    </p:spTree>
    <p:extLst>
      <p:ext uri="{BB962C8B-B14F-4D97-AF65-F5344CB8AC3E}">
        <p14:creationId xmlns:p14="http://schemas.microsoft.com/office/powerpoint/2010/main" val="2581058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Reading assignments</a:t>
            </a:r>
            <a:endParaRPr lang="ko-KR" altLang="en-US" dirty="0"/>
          </a:p>
        </p:txBody>
      </p:sp>
      <p:sp>
        <p:nvSpPr>
          <p:cNvPr id="3" name="직사각형 2"/>
          <p:cNvSpPr/>
          <p:nvPr/>
        </p:nvSpPr>
        <p:spPr>
          <a:xfrm>
            <a:off x="537790" y="1793221"/>
            <a:ext cx="11116419" cy="2308324"/>
          </a:xfrm>
          <a:prstGeom prst="rect">
            <a:avLst/>
          </a:prstGeom>
        </p:spPr>
        <p:txBody>
          <a:bodyPr wrap="square">
            <a:spAutoFit/>
          </a:bodyPr>
          <a:lstStyle/>
          <a:p>
            <a:r>
              <a:rPr lang="en-US" altLang="ko-KR" sz="2400" dirty="0"/>
              <a:t>RNA sequencing: the teenage years</a:t>
            </a:r>
          </a:p>
          <a:p>
            <a:r>
              <a:rPr lang="en-US" altLang="ko-KR" sz="2400" dirty="0"/>
              <a:t>(</a:t>
            </a:r>
            <a:r>
              <a:rPr lang="en-US" altLang="ko-KR" sz="2400" dirty="0">
                <a:hlinkClick r:id="rId2"/>
              </a:rPr>
              <a:t>https://www.nature.com/articles/s41576-019-0150-2</a:t>
            </a:r>
            <a:r>
              <a:rPr lang="en-US" altLang="ko-KR" sz="2400" dirty="0"/>
              <a:t>)</a:t>
            </a:r>
          </a:p>
          <a:p>
            <a:endParaRPr lang="en-US" altLang="ko-KR" sz="2400" dirty="0"/>
          </a:p>
          <a:p>
            <a:endParaRPr lang="en-US" altLang="ko-KR" sz="2400" dirty="0"/>
          </a:p>
          <a:p>
            <a:r>
              <a:rPr lang="en-US" altLang="ko-KR" sz="2400" dirty="0"/>
              <a:t>A survey of best practices for RNA-seq data analysis (</a:t>
            </a:r>
            <a:r>
              <a:rPr lang="en-US" altLang="ko-KR" sz="2400" dirty="0">
                <a:hlinkClick r:id="rId3"/>
              </a:rPr>
              <a:t>https://www.ncbi.nlm.nih.gov/pubmed/26813401</a:t>
            </a:r>
            <a:r>
              <a:rPr lang="en-US" altLang="ko-KR" sz="2400" dirty="0"/>
              <a:t>)</a:t>
            </a:r>
            <a:endParaRPr lang="ko-KR" altLang="en-US" sz="2400" dirty="0"/>
          </a:p>
        </p:txBody>
      </p:sp>
    </p:spTree>
    <p:extLst>
      <p:ext uri="{BB962C8B-B14F-4D97-AF65-F5344CB8AC3E}">
        <p14:creationId xmlns:p14="http://schemas.microsoft.com/office/powerpoint/2010/main" val="3717695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t>Overview</a:t>
            </a:r>
          </a:p>
        </p:txBody>
      </p:sp>
      <p:sp>
        <p:nvSpPr>
          <p:cNvPr id="3" name="내용 개체 틀 2"/>
          <p:cNvSpPr>
            <a:spLocks noGrp="1"/>
          </p:cNvSpPr>
          <p:nvPr>
            <p:ph idx="1"/>
          </p:nvPr>
        </p:nvSpPr>
        <p:spPr/>
        <p:txBody>
          <a:bodyPr/>
          <a:lstStyle/>
          <a:p>
            <a:pPr latinLnBrk="0">
              <a:lnSpc>
                <a:spcPct val="100000"/>
              </a:lnSpc>
            </a:pPr>
            <a:r>
              <a:rPr lang="en-US" dirty="0"/>
              <a:t>The power of RNA-</a:t>
            </a:r>
            <a:r>
              <a:rPr lang="en-US" dirty="0" err="1"/>
              <a:t>seq</a:t>
            </a:r>
            <a:r>
              <a:rPr lang="en-US" dirty="0"/>
              <a:t>: the twin aspects of transcript identification and the quantification of gene expression can be combined in a single high-throughput sequencing. </a:t>
            </a:r>
          </a:p>
          <a:p>
            <a:pPr latinLnBrk="0">
              <a:lnSpc>
                <a:spcPct val="100000"/>
              </a:lnSpc>
            </a:pPr>
            <a:endParaRPr lang="en-US" dirty="0"/>
          </a:p>
          <a:p>
            <a:pPr latinLnBrk="0">
              <a:lnSpc>
                <a:spcPct val="100000"/>
              </a:lnSpc>
            </a:pPr>
            <a:r>
              <a:rPr lang="en-US" dirty="0"/>
              <a:t>There is no optimal pipeline for the variety of different applications and analysis scenarios in which RNA-</a:t>
            </a:r>
            <a:r>
              <a:rPr lang="en-US" dirty="0" err="1"/>
              <a:t>seq</a:t>
            </a:r>
            <a:r>
              <a:rPr lang="en-US" dirty="0"/>
              <a:t> can be used.</a:t>
            </a:r>
          </a:p>
        </p:txBody>
      </p:sp>
    </p:spTree>
    <p:extLst>
      <p:ext uri="{BB962C8B-B14F-4D97-AF65-F5344CB8AC3E}">
        <p14:creationId xmlns:p14="http://schemas.microsoft.com/office/powerpoint/2010/main" val="4283491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A roadmap of RNA-</a:t>
            </a:r>
            <a:r>
              <a:rPr lang="en-US" dirty="0" err="1"/>
              <a:t>seq</a:t>
            </a:r>
            <a:r>
              <a:rPr lang="en-US" dirty="0"/>
              <a:t> data analysis</a:t>
            </a:r>
          </a:p>
        </p:txBody>
      </p:sp>
      <p:sp>
        <p:nvSpPr>
          <p:cNvPr id="4" name="직사각형 3"/>
          <p:cNvSpPr/>
          <p:nvPr/>
        </p:nvSpPr>
        <p:spPr>
          <a:xfrm>
            <a:off x="988541" y="2168611"/>
            <a:ext cx="2514600" cy="599303"/>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Pre-analysis</a:t>
            </a:r>
          </a:p>
        </p:txBody>
      </p:sp>
      <p:sp>
        <p:nvSpPr>
          <p:cNvPr id="5" name="직사각형 4"/>
          <p:cNvSpPr/>
          <p:nvPr/>
        </p:nvSpPr>
        <p:spPr>
          <a:xfrm>
            <a:off x="988541" y="3469368"/>
            <a:ext cx="2514600" cy="599303"/>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Core-analysis</a:t>
            </a:r>
          </a:p>
        </p:txBody>
      </p:sp>
      <p:sp>
        <p:nvSpPr>
          <p:cNvPr id="6" name="직사각형 5"/>
          <p:cNvSpPr/>
          <p:nvPr/>
        </p:nvSpPr>
        <p:spPr>
          <a:xfrm>
            <a:off x="988541" y="4779457"/>
            <a:ext cx="2514600" cy="599303"/>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Advanced-analysis</a:t>
            </a:r>
          </a:p>
        </p:txBody>
      </p:sp>
      <p:sp>
        <p:nvSpPr>
          <p:cNvPr id="7" name="직사각형 6"/>
          <p:cNvSpPr/>
          <p:nvPr/>
        </p:nvSpPr>
        <p:spPr>
          <a:xfrm>
            <a:off x="4384589" y="2168611"/>
            <a:ext cx="1818503" cy="599303"/>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0"/>
            <a:r>
              <a:rPr lang="en-US" dirty="0"/>
              <a:t>Experimental design</a:t>
            </a:r>
          </a:p>
        </p:txBody>
      </p:sp>
      <p:sp>
        <p:nvSpPr>
          <p:cNvPr id="10" name="직사각형 9"/>
          <p:cNvSpPr/>
          <p:nvPr/>
        </p:nvSpPr>
        <p:spPr>
          <a:xfrm>
            <a:off x="6402859" y="2168611"/>
            <a:ext cx="1818503" cy="599303"/>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0"/>
            <a:r>
              <a:rPr lang="en-US" dirty="0"/>
              <a:t>Sequencing design</a:t>
            </a:r>
          </a:p>
        </p:txBody>
      </p:sp>
      <p:sp>
        <p:nvSpPr>
          <p:cNvPr id="11" name="직사각형 10"/>
          <p:cNvSpPr/>
          <p:nvPr/>
        </p:nvSpPr>
        <p:spPr>
          <a:xfrm>
            <a:off x="8421129" y="2159279"/>
            <a:ext cx="1818503" cy="599303"/>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Quality control</a:t>
            </a:r>
          </a:p>
        </p:txBody>
      </p:sp>
      <p:sp>
        <p:nvSpPr>
          <p:cNvPr id="12" name="직사각형 11"/>
          <p:cNvSpPr/>
          <p:nvPr/>
        </p:nvSpPr>
        <p:spPr>
          <a:xfrm>
            <a:off x="4384589" y="3469368"/>
            <a:ext cx="1818503" cy="599303"/>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0"/>
            <a:r>
              <a:rPr lang="en-US" dirty="0"/>
              <a:t>Transcriptome profiling</a:t>
            </a:r>
          </a:p>
        </p:txBody>
      </p:sp>
      <p:sp>
        <p:nvSpPr>
          <p:cNvPr id="13" name="직사각형 12"/>
          <p:cNvSpPr/>
          <p:nvPr/>
        </p:nvSpPr>
        <p:spPr>
          <a:xfrm>
            <a:off x="6402859" y="3469368"/>
            <a:ext cx="1818503" cy="599303"/>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0"/>
            <a:r>
              <a:rPr lang="en-US" dirty="0"/>
              <a:t>Differential expression</a:t>
            </a:r>
          </a:p>
        </p:txBody>
      </p:sp>
      <p:sp>
        <p:nvSpPr>
          <p:cNvPr id="14" name="직사각형 13"/>
          <p:cNvSpPr/>
          <p:nvPr/>
        </p:nvSpPr>
        <p:spPr>
          <a:xfrm>
            <a:off x="8421129" y="3469368"/>
            <a:ext cx="1818503" cy="599303"/>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Interpretation</a:t>
            </a:r>
          </a:p>
        </p:txBody>
      </p:sp>
      <p:sp>
        <p:nvSpPr>
          <p:cNvPr id="15" name="직사각형 14"/>
          <p:cNvSpPr/>
          <p:nvPr/>
        </p:nvSpPr>
        <p:spPr>
          <a:xfrm>
            <a:off x="4384589" y="4779457"/>
            <a:ext cx="1818503" cy="599303"/>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0"/>
            <a:r>
              <a:rPr lang="en-US" dirty="0"/>
              <a:t>Visualization</a:t>
            </a:r>
          </a:p>
        </p:txBody>
      </p:sp>
      <p:sp>
        <p:nvSpPr>
          <p:cNvPr id="16" name="직사각형 15"/>
          <p:cNvSpPr/>
          <p:nvPr/>
        </p:nvSpPr>
        <p:spPr>
          <a:xfrm>
            <a:off x="6402859" y="4779457"/>
            <a:ext cx="1818503" cy="599303"/>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0"/>
            <a:r>
              <a:rPr lang="en-US" dirty="0"/>
              <a:t>Other RNA-</a:t>
            </a:r>
            <a:r>
              <a:rPr lang="en-US" dirty="0" err="1"/>
              <a:t>seq</a:t>
            </a:r>
            <a:endParaRPr lang="en-US" dirty="0"/>
          </a:p>
        </p:txBody>
      </p:sp>
      <p:sp>
        <p:nvSpPr>
          <p:cNvPr id="17" name="직사각형 16"/>
          <p:cNvSpPr/>
          <p:nvPr/>
        </p:nvSpPr>
        <p:spPr>
          <a:xfrm>
            <a:off x="8421129" y="4779457"/>
            <a:ext cx="1818503" cy="599303"/>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Integration</a:t>
            </a:r>
          </a:p>
        </p:txBody>
      </p:sp>
      <p:cxnSp>
        <p:nvCxnSpPr>
          <p:cNvPr id="19" name="직선 화살표 연결선 18"/>
          <p:cNvCxnSpPr>
            <a:stCxn id="4" idx="2"/>
            <a:endCxn id="5" idx="0"/>
          </p:cNvCxnSpPr>
          <p:nvPr/>
        </p:nvCxnSpPr>
        <p:spPr>
          <a:xfrm>
            <a:off x="2245841" y="2767914"/>
            <a:ext cx="0" cy="70145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p:cNvCxnSpPr>
            <a:stCxn id="5" idx="2"/>
            <a:endCxn id="6" idx="0"/>
          </p:cNvCxnSpPr>
          <p:nvPr/>
        </p:nvCxnSpPr>
        <p:spPr>
          <a:xfrm>
            <a:off x="2245841" y="4068671"/>
            <a:ext cx="0" cy="7107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직선 연결선 24"/>
          <p:cNvCxnSpPr>
            <a:stCxn id="4" idx="3"/>
            <a:endCxn id="7" idx="1"/>
          </p:cNvCxnSpPr>
          <p:nvPr/>
        </p:nvCxnSpPr>
        <p:spPr>
          <a:xfrm>
            <a:off x="3503141" y="2468263"/>
            <a:ext cx="8814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p:nvPr/>
        </p:nvCxnSpPr>
        <p:spPr>
          <a:xfrm>
            <a:off x="3503141" y="3769019"/>
            <a:ext cx="8814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a:off x="3503141" y="5079108"/>
            <a:ext cx="8814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937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Pre-analysis</a:t>
            </a:r>
          </a:p>
        </p:txBody>
      </p:sp>
      <p:pic>
        <p:nvPicPr>
          <p:cNvPr id="4" name="그림 3"/>
          <p:cNvPicPr>
            <a:picLocks noChangeAspect="1"/>
          </p:cNvPicPr>
          <p:nvPr/>
        </p:nvPicPr>
        <p:blipFill>
          <a:blip r:embed="rId2"/>
          <a:stretch>
            <a:fillRect/>
          </a:stretch>
        </p:blipFill>
        <p:spPr>
          <a:xfrm>
            <a:off x="39188" y="2534400"/>
            <a:ext cx="12130996" cy="2548800"/>
          </a:xfrm>
          <a:prstGeom prst="rect">
            <a:avLst/>
          </a:prstGeom>
        </p:spPr>
      </p:pic>
    </p:spTree>
    <p:extLst>
      <p:ext uri="{BB962C8B-B14F-4D97-AF65-F5344CB8AC3E}">
        <p14:creationId xmlns:p14="http://schemas.microsoft.com/office/powerpoint/2010/main" val="3628417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Experimental design</a:t>
            </a:r>
          </a:p>
        </p:txBody>
      </p:sp>
      <p:sp>
        <p:nvSpPr>
          <p:cNvPr id="3" name="텍스트 개체 틀 2"/>
          <p:cNvSpPr>
            <a:spLocks noGrp="1"/>
          </p:cNvSpPr>
          <p:nvPr>
            <p:ph type="body" idx="1"/>
          </p:nvPr>
        </p:nvSpPr>
        <p:spPr/>
        <p:txBody>
          <a:bodyPr/>
          <a:lstStyle/>
          <a:p>
            <a:endParaRPr lang="en-US"/>
          </a:p>
        </p:txBody>
      </p:sp>
    </p:spTree>
    <p:extLst>
      <p:ext uri="{BB962C8B-B14F-4D97-AF65-F5344CB8AC3E}">
        <p14:creationId xmlns:p14="http://schemas.microsoft.com/office/powerpoint/2010/main" val="448948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Experimental design</a:t>
            </a:r>
          </a:p>
        </p:txBody>
      </p:sp>
      <p:sp>
        <p:nvSpPr>
          <p:cNvPr id="3" name="내용 개체 틀 2"/>
          <p:cNvSpPr>
            <a:spLocks noGrp="1"/>
          </p:cNvSpPr>
          <p:nvPr>
            <p:ph idx="1"/>
          </p:nvPr>
        </p:nvSpPr>
        <p:spPr/>
        <p:txBody>
          <a:bodyPr/>
          <a:lstStyle/>
          <a:p>
            <a:pPr latinLnBrk="0"/>
            <a:r>
              <a:rPr lang="en-US" dirty="0"/>
              <a:t>A crucial prerequisite for a successful RNA-</a:t>
            </a:r>
            <a:r>
              <a:rPr lang="en-US" dirty="0" err="1"/>
              <a:t>seq</a:t>
            </a:r>
            <a:r>
              <a:rPr lang="en-US" dirty="0"/>
              <a:t> study is that the data generated have the potential to answer the biological questions of interest.</a:t>
            </a:r>
          </a:p>
          <a:p>
            <a:pPr latinLnBrk="0"/>
            <a:endParaRPr lang="en-US" dirty="0"/>
          </a:p>
          <a:p>
            <a:pPr latinLnBrk="0"/>
            <a:r>
              <a:rPr lang="en-US" dirty="0"/>
              <a:t>This is achieved by</a:t>
            </a:r>
          </a:p>
          <a:p>
            <a:pPr marL="914400" lvl="1" indent="-457200" latinLnBrk="0">
              <a:buFont typeface="+mj-lt"/>
              <a:buAutoNum type="arabicPeriod"/>
            </a:pPr>
            <a:r>
              <a:rPr lang="en-US" dirty="0"/>
              <a:t>defining a good </a:t>
            </a:r>
            <a:r>
              <a:rPr lang="en-US" dirty="0">
                <a:solidFill>
                  <a:srgbClr val="FF0000"/>
                </a:solidFill>
              </a:rPr>
              <a:t>experimental design</a:t>
            </a:r>
            <a:r>
              <a:rPr lang="en-US" dirty="0"/>
              <a:t> (choosing the library type, sequencing depth, # of replicates)</a:t>
            </a:r>
          </a:p>
          <a:p>
            <a:pPr marL="914400" lvl="1" indent="-457200" latinLnBrk="0">
              <a:buFont typeface="+mj-lt"/>
              <a:buAutoNum type="arabicPeriod"/>
            </a:pPr>
            <a:r>
              <a:rPr lang="en-US" dirty="0"/>
              <a:t>planning an adequate </a:t>
            </a:r>
            <a:r>
              <a:rPr lang="en-US" dirty="0">
                <a:solidFill>
                  <a:srgbClr val="FF0000"/>
                </a:solidFill>
              </a:rPr>
              <a:t>execution of the sequencing experiment</a:t>
            </a:r>
            <a:r>
              <a:rPr lang="en-US" dirty="0"/>
              <a:t> itself, ensuring that data acquisition does not become contaminated with unnecessary biases.</a:t>
            </a:r>
          </a:p>
        </p:txBody>
      </p:sp>
    </p:spTree>
    <p:extLst>
      <p:ext uri="{BB962C8B-B14F-4D97-AF65-F5344CB8AC3E}">
        <p14:creationId xmlns:p14="http://schemas.microsoft.com/office/powerpoint/2010/main" val="2689147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RNA-extraction protocol</a:t>
            </a:r>
          </a:p>
        </p:txBody>
      </p:sp>
      <p:sp>
        <p:nvSpPr>
          <p:cNvPr id="3" name="내용 개체 틀 2"/>
          <p:cNvSpPr>
            <a:spLocks noGrp="1"/>
          </p:cNvSpPr>
          <p:nvPr>
            <p:ph idx="1"/>
          </p:nvPr>
        </p:nvSpPr>
        <p:spPr/>
        <p:txBody>
          <a:bodyPr/>
          <a:lstStyle/>
          <a:p>
            <a:pPr latinLnBrk="0"/>
            <a:r>
              <a:rPr lang="en-US" dirty="0"/>
              <a:t>To remove the highly abundant ribosomal RNA (rRNA), which typically constitutes over 90% of total RNA in cells, leaving the 1-2% comprising messenger RNA (mRNA).</a:t>
            </a:r>
          </a:p>
          <a:p>
            <a:pPr latinLnBrk="0"/>
            <a:endParaRPr lang="en-US" dirty="0"/>
          </a:p>
          <a:p>
            <a:pPr latinLnBrk="0"/>
            <a:r>
              <a:rPr lang="en-US" dirty="0"/>
              <a:t>For eukaryotes, this involves choosing whether</a:t>
            </a:r>
          </a:p>
          <a:p>
            <a:pPr marL="914400" lvl="1" indent="-457200" latinLnBrk="0">
              <a:buFont typeface="+mj-lt"/>
              <a:buAutoNum type="arabicPeriod"/>
            </a:pPr>
            <a:r>
              <a:rPr lang="en-US" dirty="0"/>
              <a:t>To enrich for mRNA using poly(A) selection</a:t>
            </a:r>
          </a:p>
          <a:p>
            <a:pPr marL="914400" lvl="1" indent="-457200" latinLnBrk="0">
              <a:buFont typeface="+mj-lt"/>
              <a:buAutoNum type="arabicPeriod"/>
            </a:pPr>
            <a:r>
              <a:rPr lang="en-US" dirty="0"/>
              <a:t>To deplete </a:t>
            </a:r>
            <a:r>
              <a:rPr lang="en-US" dirty="0" err="1"/>
              <a:t>rRNA</a:t>
            </a:r>
            <a:r>
              <a:rPr lang="en-US" dirty="0"/>
              <a:t> </a:t>
            </a:r>
          </a:p>
        </p:txBody>
      </p:sp>
    </p:spTree>
    <p:extLst>
      <p:ext uri="{BB962C8B-B14F-4D97-AF65-F5344CB8AC3E}">
        <p14:creationId xmlns:p14="http://schemas.microsoft.com/office/powerpoint/2010/main" val="1206327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RNA-extraction protocol</a:t>
            </a:r>
            <a:endParaRPr lang="en-US" dirty="0"/>
          </a:p>
        </p:txBody>
      </p:sp>
      <p:sp>
        <p:nvSpPr>
          <p:cNvPr id="3" name="내용 개체 틀 2"/>
          <p:cNvSpPr>
            <a:spLocks noGrp="1"/>
          </p:cNvSpPr>
          <p:nvPr>
            <p:ph idx="1"/>
          </p:nvPr>
        </p:nvSpPr>
        <p:spPr/>
        <p:txBody>
          <a:bodyPr>
            <a:normAutofit fontScale="92500" lnSpcReduction="10000"/>
          </a:bodyPr>
          <a:lstStyle/>
          <a:p>
            <a:pPr latinLnBrk="0">
              <a:lnSpc>
                <a:spcPct val="110000"/>
              </a:lnSpc>
            </a:pPr>
            <a:r>
              <a:rPr lang="en-US" dirty="0">
                <a:solidFill>
                  <a:srgbClr val="FF0000"/>
                </a:solidFill>
              </a:rPr>
              <a:t>Poly(A) selection</a:t>
            </a:r>
            <a:r>
              <a:rPr lang="en-US" dirty="0"/>
              <a:t>: </a:t>
            </a:r>
          </a:p>
          <a:p>
            <a:pPr lvl="1" latinLnBrk="0">
              <a:lnSpc>
                <a:spcPct val="110000"/>
              </a:lnSpc>
            </a:pPr>
            <a:r>
              <a:rPr lang="en-US" dirty="0"/>
              <a:t>requires a relatively high proportion of mRNA with minimal degradation as measured by RNA integrity number (RIN)</a:t>
            </a:r>
          </a:p>
          <a:p>
            <a:pPr lvl="1" latinLnBrk="0">
              <a:lnSpc>
                <a:spcPct val="110000"/>
              </a:lnSpc>
            </a:pPr>
            <a:r>
              <a:rPr lang="en-US" dirty="0"/>
              <a:t>yields a higher overall fraction of reads falling onto known exons</a:t>
            </a:r>
          </a:p>
          <a:p>
            <a:pPr lvl="1" latinLnBrk="0">
              <a:lnSpc>
                <a:spcPct val="110000"/>
              </a:lnSpc>
            </a:pPr>
            <a:endParaRPr lang="en-US" dirty="0"/>
          </a:p>
          <a:p>
            <a:pPr latinLnBrk="0">
              <a:lnSpc>
                <a:spcPct val="110000"/>
              </a:lnSpc>
            </a:pPr>
            <a:r>
              <a:rPr lang="en-US" dirty="0">
                <a:solidFill>
                  <a:srgbClr val="FF0000"/>
                </a:solidFill>
              </a:rPr>
              <a:t>Ribosomal depletion</a:t>
            </a:r>
            <a:r>
              <a:rPr lang="en-US" dirty="0"/>
              <a:t>:</a:t>
            </a:r>
          </a:p>
          <a:p>
            <a:pPr lvl="1" latinLnBrk="0">
              <a:lnSpc>
                <a:spcPct val="110000"/>
              </a:lnSpc>
            </a:pPr>
            <a:r>
              <a:rPr lang="en-US" dirty="0"/>
              <a:t>many biologically relevant samples (e.g. tissue biopsies) cannot be obtained in great enough quantity or good enough mRNA integrity to produce good poly(A)-selected libraries and require ribosomal depletion</a:t>
            </a:r>
          </a:p>
          <a:p>
            <a:pPr lvl="1" latinLnBrk="0">
              <a:lnSpc>
                <a:spcPct val="110000"/>
              </a:lnSpc>
            </a:pPr>
            <a:r>
              <a:rPr lang="en-US" dirty="0"/>
              <a:t>For bacterial samples, in which mRNA is not </a:t>
            </a:r>
            <a:r>
              <a:rPr lang="en-US" dirty="0" err="1"/>
              <a:t>polyadenylated</a:t>
            </a:r>
            <a:r>
              <a:rPr lang="en-US" dirty="0"/>
              <a:t>, the only viable alternative is ribosomal depletion.</a:t>
            </a:r>
          </a:p>
          <a:p>
            <a:pPr lvl="1"/>
            <a:endParaRPr lang="en-US" dirty="0"/>
          </a:p>
          <a:p>
            <a:endParaRPr lang="en-US" dirty="0"/>
          </a:p>
        </p:txBody>
      </p:sp>
    </p:spTree>
    <p:extLst>
      <p:ext uri="{BB962C8B-B14F-4D97-AF65-F5344CB8AC3E}">
        <p14:creationId xmlns:p14="http://schemas.microsoft.com/office/powerpoint/2010/main" val="3910842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Single-end (SE) vs Paired-end (PE)	</a:t>
            </a:r>
          </a:p>
        </p:txBody>
      </p:sp>
      <p:sp>
        <p:nvSpPr>
          <p:cNvPr id="3" name="내용 개체 틀 2"/>
          <p:cNvSpPr>
            <a:spLocks noGrp="1"/>
          </p:cNvSpPr>
          <p:nvPr>
            <p:ph idx="1"/>
          </p:nvPr>
        </p:nvSpPr>
        <p:spPr/>
        <p:txBody>
          <a:bodyPr>
            <a:normAutofit fontScale="92500" lnSpcReduction="10000"/>
          </a:bodyPr>
          <a:lstStyle/>
          <a:p>
            <a:pPr latinLnBrk="0">
              <a:lnSpc>
                <a:spcPct val="120000"/>
              </a:lnSpc>
            </a:pPr>
            <a:r>
              <a:rPr lang="en-US" dirty="0"/>
              <a:t>Longer reads improve </a:t>
            </a:r>
            <a:r>
              <a:rPr lang="en-US" dirty="0" err="1"/>
              <a:t>mappability</a:t>
            </a:r>
            <a:r>
              <a:rPr lang="en-US" dirty="0"/>
              <a:t> and transcript identification</a:t>
            </a:r>
          </a:p>
          <a:p>
            <a:pPr latinLnBrk="0">
              <a:lnSpc>
                <a:spcPct val="120000"/>
              </a:lnSpc>
            </a:pPr>
            <a:endParaRPr lang="en-US" dirty="0"/>
          </a:p>
          <a:p>
            <a:pPr latinLnBrk="0">
              <a:lnSpc>
                <a:spcPct val="120000"/>
              </a:lnSpc>
            </a:pPr>
            <a:r>
              <a:rPr lang="en-US" dirty="0"/>
              <a:t>Short SE reads: sufficient for studies of gene expression levels in well-annotated organisms, cheaper than PE.</a:t>
            </a:r>
          </a:p>
          <a:p>
            <a:pPr latinLnBrk="0">
              <a:lnSpc>
                <a:spcPct val="120000"/>
              </a:lnSpc>
            </a:pPr>
            <a:endParaRPr lang="en-US" dirty="0"/>
          </a:p>
          <a:p>
            <a:pPr latinLnBrk="0">
              <a:lnSpc>
                <a:spcPct val="120000"/>
              </a:lnSpc>
            </a:pPr>
            <a:r>
              <a:rPr lang="en-US" dirty="0"/>
              <a:t>Long PE reads: preferable to characterize poorly annotated transcriptomes (de novo transcript discovery, isoform expression analysis).</a:t>
            </a:r>
          </a:p>
        </p:txBody>
      </p:sp>
    </p:spTree>
    <p:extLst>
      <p:ext uri="{BB962C8B-B14F-4D97-AF65-F5344CB8AC3E}">
        <p14:creationId xmlns:p14="http://schemas.microsoft.com/office/powerpoint/2010/main" val="3778731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Sequencing depth </a:t>
            </a:r>
            <a:r>
              <a:rPr lang="en-US" altLang="ko-KR" dirty="0"/>
              <a:t>(or library size)</a:t>
            </a:r>
            <a:endParaRPr lang="en-US" dirty="0"/>
          </a:p>
        </p:txBody>
      </p:sp>
      <p:sp>
        <p:nvSpPr>
          <p:cNvPr id="3" name="내용 개체 틀 2"/>
          <p:cNvSpPr>
            <a:spLocks noGrp="1"/>
          </p:cNvSpPr>
          <p:nvPr>
            <p:ph idx="1"/>
          </p:nvPr>
        </p:nvSpPr>
        <p:spPr/>
        <p:txBody>
          <a:bodyPr/>
          <a:lstStyle/>
          <a:p>
            <a:pPr latinLnBrk="0"/>
            <a:r>
              <a:rPr lang="en-US" dirty="0"/>
              <a:t>Sequencing depth: the number of sequenced reads for a given sample</a:t>
            </a:r>
          </a:p>
          <a:p>
            <a:pPr latinLnBrk="0"/>
            <a:endParaRPr lang="en-US" dirty="0"/>
          </a:p>
          <a:p>
            <a:pPr latinLnBrk="0"/>
            <a:r>
              <a:rPr lang="en-US" dirty="0"/>
              <a:t>More transcripts will be detected and their quantification will be more precise as the sample is sequenced to a deeper level.</a:t>
            </a:r>
          </a:p>
          <a:p>
            <a:pPr latinLnBrk="0"/>
            <a:endParaRPr lang="en-US" dirty="0"/>
          </a:p>
          <a:p>
            <a:pPr latinLnBrk="0"/>
            <a:r>
              <a:rPr lang="en-US" dirty="0"/>
              <a:t>Optimal sequencing depth depends on the aims of the experiment.</a:t>
            </a:r>
          </a:p>
        </p:txBody>
      </p:sp>
    </p:spTree>
    <p:extLst>
      <p:ext uri="{BB962C8B-B14F-4D97-AF65-F5344CB8AC3E}">
        <p14:creationId xmlns:p14="http://schemas.microsoft.com/office/powerpoint/2010/main" val="247521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Sequencing depth (or library size)</a:t>
            </a:r>
            <a:endParaRPr lang="en-US" dirty="0"/>
          </a:p>
        </p:txBody>
      </p:sp>
      <p:sp>
        <p:nvSpPr>
          <p:cNvPr id="3" name="내용 개체 틀 2"/>
          <p:cNvSpPr>
            <a:spLocks noGrp="1"/>
          </p:cNvSpPr>
          <p:nvPr>
            <p:ph idx="1"/>
          </p:nvPr>
        </p:nvSpPr>
        <p:spPr/>
        <p:txBody>
          <a:bodyPr>
            <a:normAutofit/>
          </a:bodyPr>
          <a:lstStyle/>
          <a:p>
            <a:pPr latinLnBrk="0"/>
            <a:r>
              <a:rPr lang="en-US" dirty="0"/>
              <a:t>To quantify accurately medium to highly expressed genes in most eukaryotic transcriptomes: 5 million mapped reads</a:t>
            </a:r>
          </a:p>
          <a:p>
            <a:pPr latinLnBrk="0"/>
            <a:endParaRPr lang="en-US" dirty="0"/>
          </a:p>
          <a:p>
            <a:pPr latinLnBrk="0"/>
            <a:r>
              <a:rPr lang="en-US" dirty="0"/>
              <a:t>To quantify precisely genes and transcripts that have low expression levels: 100 million reads</a:t>
            </a:r>
          </a:p>
          <a:p>
            <a:pPr latinLnBrk="0"/>
            <a:endParaRPr lang="en-US" dirty="0"/>
          </a:p>
          <a:p>
            <a:pPr latinLnBrk="0"/>
            <a:r>
              <a:rPr lang="en-US" dirty="0"/>
              <a:t>For single cells,</a:t>
            </a:r>
          </a:p>
          <a:p>
            <a:pPr lvl="1" latinLnBrk="0"/>
            <a:r>
              <a:rPr lang="en-US" dirty="0"/>
              <a:t>1 million reads</a:t>
            </a:r>
          </a:p>
          <a:p>
            <a:pPr lvl="1" latinLnBrk="0"/>
            <a:r>
              <a:rPr lang="en-US" dirty="0"/>
              <a:t>50,000 reads </a:t>
            </a:r>
            <a:r>
              <a:rPr lang="en-US"/>
              <a:t>per cell </a:t>
            </a:r>
            <a:r>
              <a:rPr lang="en-US" dirty="0"/>
              <a:t>for highly expressed genes</a:t>
            </a:r>
          </a:p>
        </p:txBody>
      </p:sp>
    </p:spTree>
    <p:extLst>
      <p:ext uri="{BB962C8B-B14F-4D97-AF65-F5344CB8AC3E}">
        <p14:creationId xmlns:p14="http://schemas.microsoft.com/office/powerpoint/2010/main" val="341263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Sequencing depth (or library size)</a:t>
            </a:r>
            <a:endParaRPr lang="en-US" dirty="0"/>
          </a:p>
        </p:txBody>
      </p:sp>
      <p:sp>
        <p:nvSpPr>
          <p:cNvPr id="3" name="내용 개체 틀 2"/>
          <p:cNvSpPr>
            <a:spLocks noGrp="1"/>
          </p:cNvSpPr>
          <p:nvPr>
            <p:ph idx="1"/>
          </p:nvPr>
        </p:nvSpPr>
        <p:spPr/>
        <p:txBody>
          <a:bodyPr/>
          <a:lstStyle/>
          <a:p>
            <a:pPr latinLnBrk="0"/>
            <a:r>
              <a:rPr lang="en-US" dirty="0"/>
              <a:t>Optimal library size depends on the complexity of the targeted transcriptome.</a:t>
            </a:r>
          </a:p>
          <a:p>
            <a:pPr latinLnBrk="0"/>
            <a:endParaRPr lang="en-US" dirty="0"/>
          </a:p>
          <a:p>
            <a:pPr latinLnBrk="0"/>
            <a:r>
              <a:rPr lang="en-US" dirty="0"/>
              <a:t>Saturation curves can be used to assess the improvement in transcriptome coverage to be expected at a given sequencing depth.</a:t>
            </a:r>
          </a:p>
        </p:txBody>
      </p:sp>
    </p:spTree>
    <p:extLst>
      <p:ext uri="{BB962C8B-B14F-4D97-AF65-F5344CB8AC3E}">
        <p14:creationId xmlns:p14="http://schemas.microsoft.com/office/powerpoint/2010/main" val="3564036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Sequencing depth (or library size)</a:t>
            </a:r>
            <a:endParaRPr lang="en-US" dirty="0"/>
          </a:p>
        </p:txBody>
      </p:sp>
      <p:sp>
        <p:nvSpPr>
          <p:cNvPr id="3" name="내용 개체 틀 2"/>
          <p:cNvSpPr>
            <a:spLocks noGrp="1"/>
          </p:cNvSpPr>
          <p:nvPr>
            <p:ph idx="1"/>
          </p:nvPr>
        </p:nvSpPr>
        <p:spPr/>
        <p:txBody>
          <a:bodyPr/>
          <a:lstStyle/>
          <a:p>
            <a:endParaRPr lang="en-US"/>
          </a:p>
        </p:txBody>
      </p:sp>
      <p:pic>
        <p:nvPicPr>
          <p:cNvPr id="4" name="그림 3"/>
          <p:cNvPicPr>
            <a:picLocks noChangeAspect="1"/>
          </p:cNvPicPr>
          <p:nvPr/>
        </p:nvPicPr>
        <p:blipFill>
          <a:blip r:embed="rId2"/>
          <a:stretch>
            <a:fillRect/>
          </a:stretch>
        </p:blipFill>
        <p:spPr>
          <a:xfrm>
            <a:off x="390487" y="1825625"/>
            <a:ext cx="11182471" cy="4305550"/>
          </a:xfrm>
          <a:prstGeom prst="rect">
            <a:avLst/>
          </a:prstGeom>
        </p:spPr>
      </p:pic>
      <p:sp>
        <p:nvSpPr>
          <p:cNvPr id="5" name="TextBox 4"/>
          <p:cNvSpPr txBox="1"/>
          <p:nvPr/>
        </p:nvSpPr>
        <p:spPr>
          <a:xfrm>
            <a:off x="8685600" y="6488668"/>
            <a:ext cx="3506400" cy="369332"/>
          </a:xfrm>
          <a:prstGeom prst="rect">
            <a:avLst/>
          </a:prstGeom>
          <a:noFill/>
        </p:spPr>
        <p:txBody>
          <a:bodyPr wrap="square" rtlCol="0">
            <a:spAutoFit/>
          </a:bodyPr>
          <a:lstStyle/>
          <a:p>
            <a:r>
              <a:rPr lang="en-US" dirty="0"/>
              <a:t>Genome Res (2011) 21:2213-23</a:t>
            </a:r>
          </a:p>
        </p:txBody>
      </p:sp>
    </p:spTree>
    <p:extLst>
      <p:ext uri="{BB962C8B-B14F-4D97-AF65-F5344CB8AC3E}">
        <p14:creationId xmlns:p14="http://schemas.microsoft.com/office/powerpoint/2010/main" val="237517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Number of replicates</a:t>
            </a:r>
          </a:p>
        </p:txBody>
      </p:sp>
      <p:sp>
        <p:nvSpPr>
          <p:cNvPr id="3" name="내용 개체 틀 2"/>
          <p:cNvSpPr>
            <a:spLocks noGrp="1"/>
          </p:cNvSpPr>
          <p:nvPr>
            <p:ph idx="1"/>
          </p:nvPr>
        </p:nvSpPr>
        <p:spPr/>
        <p:txBody>
          <a:bodyPr/>
          <a:lstStyle/>
          <a:p>
            <a:pPr latinLnBrk="0"/>
            <a:r>
              <a:rPr lang="en-US" dirty="0"/>
              <a:t>The number of replicates that should be included in a RNA-</a:t>
            </a:r>
            <a:r>
              <a:rPr lang="en-US" dirty="0" err="1"/>
              <a:t>seq</a:t>
            </a:r>
            <a:r>
              <a:rPr lang="en-US" dirty="0"/>
              <a:t> experiment depends on </a:t>
            </a:r>
          </a:p>
          <a:p>
            <a:pPr marL="914400" lvl="1" indent="-457200" latinLnBrk="0">
              <a:buFont typeface="+mj-lt"/>
              <a:buAutoNum type="arabicPeriod"/>
            </a:pPr>
            <a:r>
              <a:rPr lang="en-US" dirty="0"/>
              <a:t>the amount of technical variability in the RNA-</a:t>
            </a:r>
            <a:r>
              <a:rPr lang="en-US" dirty="0" err="1"/>
              <a:t>seq</a:t>
            </a:r>
            <a:r>
              <a:rPr lang="en-US" dirty="0"/>
              <a:t> procedures </a:t>
            </a:r>
          </a:p>
          <a:p>
            <a:pPr marL="914400" lvl="1" indent="-457200" latinLnBrk="0">
              <a:buFont typeface="+mj-lt"/>
              <a:buAutoNum type="arabicPeriod"/>
            </a:pPr>
            <a:r>
              <a:rPr lang="en-US" dirty="0"/>
              <a:t>the biological variability of the system under study</a:t>
            </a:r>
          </a:p>
          <a:p>
            <a:pPr marL="914400" lvl="1" indent="-457200" latinLnBrk="0">
              <a:buFont typeface="+mj-lt"/>
              <a:buAutoNum type="arabicPeriod"/>
            </a:pPr>
            <a:r>
              <a:rPr lang="en-US" dirty="0"/>
              <a:t>the capacity for detecting statistically significant differences in gene expression between experimental groups.</a:t>
            </a:r>
          </a:p>
          <a:p>
            <a:pPr latinLnBrk="0"/>
            <a:endParaRPr lang="en-US" dirty="0"/>
          </a:p>
          <a:p>
            <a:pPr latinLnBrk="0"/>
            <a:endParaRPr lang="en-US" dirty="0"/>
          </a:p>
        </p:txBody>
      </p:sp>
    </p:spTree>
    <p:extLst>
      <p:ext uri="{BB962C8B-B14F-4D97-AF65-F5344CB8AC3E}">
        <p14:creationId xmlns:p14="http://schemas.microsoft.com/office/powerpoint/2010/main" val="466013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Number of replicates</a:t>
            </a:r>
            <a:endParaRPr lang="en-US" dirty="0"/>
          </a:p>
        </p:txBody>
      </p:sp>
      <p:sp>
        <p:nvSpPr>
          <p:cNvPr id="3" name="내용 개체 틀 2"/>
          <p:cNvSpPr>
            <a:spLocks noGrp="1"/>
          </p:cNvSpPr>
          <p:nvPr>
            <p:ph idx="1"/>
          </p:nvPr>
        </p:nvSpPr>
        <p:spPr/>
        <p:txBody>
          <a:bodyPr/>
          <a:lstStyle/>
          <a:p>
            <a:endParaRPr lang="en-US" dirty="0"/>
          </a:p>
        </p:txBody>
      </p:sp>
      <p:pic>
        <p:nvPicPr>
          <p:cNvPr id="4" name="그림 3"/>
          <p:cNvPicPr>
            <a:picLocks noChangeAspect="1"/>
          </p:cNvPicPr>
          <p:nvPr/>
        </p:nvPicPr>
        <p:blipFill>
          <a:blip r:embed="rId2"/>
          <a:stretch>
            <a:fillRect/>
          </a:stretch>
        </p:blipFill>
        <p:spPr>
          <a:xfrm>
            <a:off x="2748686" y="1437376"/>
            <a:ext cx="5312228" cy="5334224"/>
          </a:xfrm>
          <a:prstGeom prst="rect">
            <a:avLst/>
          </a:prstGeom>
        </p:spPr>
      </p:pic>
    </p:spTree>
    <p:extLst>
      <p:ext uri="{BB962C8B-B14F-4D97-AF65-F5344CB8AC3E}">
        <p14:creationId xmlns:p14="http://schemas.microsoft.com/office/powerpoint/2010/main" val="1008945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Planning of sequencing experiments</a:t>
            </a:r>
          </a:p>
        </p:txBody>
      </p:sp>
      <p:sp>
        <p:nvSpPr>
          <p:cNvPr id="3" name="내용 개체 틀 2"/>
          <p:cNvSpPr>
            <a:spLocks noGrp="1"/>
          </p:cNvSpPr>
          <p:nvPr>
            <p:ph idx="1"/>
          </p:nvPr>
        </p:nvSpPr>
        <p:spPr/>
        <p:txBody>
          <a:bodyPr>
            <a:normAutofit fontScale="92500" lnSpcReduction="10000"/>
          </a:bodyPr>
          <a:lstStyle/>
          <a:p>
            <a:pPr latinLnBrk="0">
              <a:lnSpc>
                <a:spcPct val="110000"/>
              </a:lnSpc>
            </a:pPr>
            <a:r>
              <a:rPr lang="en-US" dirty="0"/>
              <a:t>The adequate planning of sequencing experiments to avoid technical biases is as important as good experimental design, especially when the experiment involves a large number of samples that need to be processed in several batches.</a:t>
            </a:r>
          </a:p>
          <a:p>
            <a:pPr latinLnBrk="0">
              <a:lnSpc>
                <a:spcPct val="110000"/>
              </a:lnSpc>
            </a:pPr>
            <a:endParaRPr lang="en-US" dirty="0"/>
          </a:p>
          <a:p>
            <a:pPr latinLnBrk="0">
              <a:lnSpc>
                <a:spcPct val="110000"/>
              </a:lnSpc>
            </a:pPr>
            <a:r>
              <a:rPr lang="en-US" dirty="0"/>
              <a:t>If the RNA-</a:t>
            </a:r>
            <a:r>
              <a:rPr lang="en-US" dirty="0" err="1"/>
              <a:t>seq</a:t>
            </a:r>
            <a:r>
              <a:rPr lang="en-US" dirty="0"/>
              <a:t> experiment is large and samples have to be processed in different batches and Illumina runs, caution should be taken to randomize samples across library preparation batches and lanes to avoid technical factors becoming confounded with experimental factors.</a:t>
            </a:r>
          </a:p>
          <a:p>
            <a:pPr latinLnBrk="0">
              <a:lnSpc>
                <a:spcPct val="100000"/>
              </a:lnSpc>
            </a:pPr>
            <a:endParaRPr lang="en-US" dirty="0"/>
          </a:p>
          <a:p>
            <a:pPr latinLnBrk="0">
              <a:lnSpc>
                <a:spcPct val="100000"/>
              </a:lnSpc>
            </a:pPr>
            <a:endParaRPr lang="en-US" dirty="0"/>
          </a:p>
        </p:txBody>
      </p:sp>
    </p:spTree>
    <p:extLst>
      <p:ext uri="{BB962C8B-B14F-4D97-AF65-F5344CB8AC3E}">
        <p14:creationId xmlns:p14="http://schemas.microsoft.com/office/powerpoint/2010/main" val="42425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Planning of sequencing experiments</a:t>
            </a:r>
            <a:endParaRPr lang="en-US" dirty="0"/>
          </a:p>
        </p:txBody>
      </p:sp>
      <p:sp>
        <p:nvSpPr>
          <p:cNvPr id="3" name="내용 개체 틀 2"/>
          <p:cNvSpPr>
            <a:spLocks noGrp="1"/>
          </p:cNvSpPr>
          <p:nvPr>
            <p:ph idx="1"/>
          </p:nvPr>
        </p:nvSpPr>
        <p:spPr/>
        <p:txBody>
          <a:bodyPr/>
          <a:lstStyle/>
          <a:p>
            <a:pPr latinLnBrk="0"/>
            <a:r>
              <a:rPr lang="en-US" dirty="0"/>
              <a:t>When samples are individually barcoded and multiple lanes are needed to achieve the desired sequencing depth, including all samples in each lane would minimize any possible lane batch effect.</a:t>
            </a:r>
          </a:p>
        </p:txBody>
      </p:sp>
    </p:spTree>
    <p:extLst>
      <p:ext uri="{BB962C8B-B14F-4D97-AF65-F5344CB8AC3E}">
        <p14:creationId xmlns:p14="http://schemas.microsoft.com/office/powerpoint/2010/main" val="2850650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Planning of sequencing experiments</a:t>
            </a:r>
            <a:endParaRPr lang="en-US" dirty="0"/>
          </a:p>
        </p:txBody>
      </p:sp>
      <p:pic>
        <p:nvPicPr>
          <p:cNvPr id="3" name="그림 2"/>
          <p:cNvPicPr>
            <a:picLocks noChangeAspect="1"/>
          </p:cNvPicPr>
          <p:nvPr/>
        </p:nvPicPr>
        <p:blipFill>
          <a:blip r:embed="rId2"/>
          <a:stretch>
            <a:fillRect/>
          </a:stretch>
        </p:blipFill>
        <p:spPr>
          <a:xfrm>
            <a:off x="1313148" y="1690688"/>
            <a:ext cx="7220652" cy="5118750"/>
          </a:xfrm>
          <a:prstGeom prst="rect">
            <a:avLst/>
          </a:prstGeom>
        </p:spPr>
      </p:pic>
      <p:sp>
        <p:nvSpPr>
          <p:cNvPr id="4" name="TextBox 3"/>
          <p:cNvSpPr txBox="1"/>
          <p:nvPr/>
        </p:nvSpPr>
        <p:spPr>
          <a:xfrm>
            <a:off x="8685600" y="6488668"/>
            <a:ext cx="3506400" cy="369332"/>
          </a:xfrm>
          <a:prstGeom prst="rect">
            <a:avLst/>
          </a:prstGeom>
          <a:noFill/>
        </p:spPr>
        <p:txBody>
          <a:bodyPr wrap="square" rtlCol="0">
            <a:spAutoFit/>
          </a:bodyPr>
          <a:lstStyle/>
          <a:p>
            <a:r>
              <a:rPr lang="en-US" dirty="0"/>
              <a:t>Genetics (2010) 185:405-416</a:t>
            </a:r>
          </a:p>
        </p:txBody>
      </p:sp>
    </p:spTree>
    <p:extLst>
      <p:ext uri="{BB962C8B-B14F-4D97-AF65-F5344CB8AC3E}">
        <p14:creationId xmlns:p14="http://schemas.microsoft.com/office/powerpoint/2010/main" val="3382690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QC</a:t>
            </a:r>
          </a:p>
        </p:txBody>
      </p:sp>
      <p:sp>
        <p:nvSpPr>
          <p:cNvPr id="3" name="텍스트 개체 틀 2"/>
          <p:cNvSpPr>
            <a:spLocks noGrp="1"/>
          </p:cNvSpPr>
          <p:nvPr>
            <p:ph type="body" idx="1"/>
          </p:nvPr>
        </p:nvSpPr>
        <p:spPr/>
        <p:txBody>
          <a:bodyPr/>
          <a:lstStyle/>
          <a:p>
            <a:endParaRPr lang="en-US"/>
          </a:p>
        </p:txBody>
      </p:sp>
    </p:spTree>
    <p:extLst>
      <p:ext uri="{BB962C8B-B14F-4D97-AF65-F5344CB8AC3E}">
        <p14:creationId xmlns:p14="http://schemas.microsoft.com/office/powerpoint/2010/main" val="4227841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QC</a:t>
            </a:r>
          </a:p>
        </p:txBody>
      </p:sp>
      <p:sp>
        <p:nvSpPr>
          <p:cNvPr id="3" name="내용 개체 틀 2"/>
          <p:cNvSpPr>
            <a:spLocks noGrp="1"/>
          </p:cNvSpPr>
          <p:nvPr>
            <p:ph idx="1"/>
          </p:nvPr>
        </p:nvSpPr>
        <p:spPr/>
        <p:txBody>
          <a:bodyPr/>
          <a:lstStyle/>
          <a:p>
            <a:pPr latinLnBrk="0"/>
            <a:r>
              <a:rPr lang="en-US" dirty="0"/>
              <a:t>The acquisition of RNA-</a:t>
            </a:r>
            <a:r>
              <a:rPr lang="en-US" dirty="0" err="1"/>
              <a:t>seq</a:t>
            </a:r>
            <a:r>
              <a:rPr lang="en-US" dirty="0"/>
              <a:t> data:</a:t>
            </a:r>
          </a:p>
          <a:p>
            <a:pPr lvl="1" latinLnBrk="0"/>
            <a:r>
              <a:rPr lang="en-US" dirty="0"/>
              <a:t>Raw reads</a:t>
            </a:r>
          </a:p>
          <a:p>
            <a:pPr lvl="1" latinLnBrk="0"/>
            <a:r>
              <a:rPr lang="en-US" dirty="0"/>
              <a:t>Read alignment</a:t>
            </a:r>
          </a:p>
          <a:p>
            <a:pPr lvl="1" latinLnBrk="0"/>
            <a:r>
              <a:rPr lang="en-US" dirty="0"/>
              <a:t>Read count</a:t>
            </a:r>
          </a:p>
          <a:p>
            <a:pPr lvl="1" latinLnBrk="0"/>
            <a:endParaRPr lang="en-US" dirty="0"/>
          </a:p>
          <a:p>
            <a:pPr latinLnBrk="0"/>
            <a:r>
              <a:rPr lang="en-US" dirty="0"/>
              <a:t>At each of these steps, specific QC checks should be applied to monitor the quality of the data.</a:t>
            </a:r>
          </a:p>
        </p:txBody>
      </p:sp>
    </p:spTree>
    <p:extLst>
      <p:ext uri="{BB962C8B-B14F-4D97-AF65-F5344CB8AC3E}">
        <p14:creationId xmlns:p14="http://schemas.microsoft.com/office/powerpoint/2010/main" val="1716642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QC: Raw reads</a:t>
            </a:r>
          </a:p>
        </p:txBody>
      </p:sp>
      <p:sp>
        <p:nvSpPr>
          <p:cNvPr id="3" name="내용 개체 틀 2"/>
          <p:cNvSpPr>
            <a:spLocks noGrp="1"/>
          </p:cNvSpPr>
          <p:nvPr>
            <p:ph idx="1"/>
          </p:nvPr>
        </p:nvSpPr>
        <p:spPr/>
        <p:txBody>
          <a:bodyPr>
            <a:normAutofit fontScale="70000" lnSpcReduction="20000"/>
          </a:bodyPr>
          <a:lstStyle/>
          <a:p>
            <a:pPr latinLnBrk="0">
              <a:lnSpc>
                <a:spcPct val="120000"/>
              </a:lnSpc>
            </a:pPr>
            <a:r>
              <a:rPr lang="en-US" dirty="0"/>
              <a:t>QC for the raw reads involves the analysis of sequence quality, GC content, the presence of adaptors, overrepresented k-</a:t>
            </a:r>
            <a:r>
              <a:rPr lang="en-US" dirty="0" err="1"/>
              <a:t>mers</a:t>
            </a:r>
            <a:r>
              <a:rPr lang="en-US" dirty="0"/>
              <a:t> and duplicated reads in order to detect sequencing errors, PCR artifacts or contaminations. </a:t>
            </a:r>
          </a:p>
          <a:p>
            <a:pPr latinLnBrk="0">
              <a:lnSpc>
                <a:spcPct val="120000"/>
              </a:lnSpc>
            </a:pPr>
            <a:endParaRPr lang="en-US" dirty="0"/>
          </a:p>
          <a:p>
            <a:pPr latinLnBrk="0">
              <a:lnSpc>
                <a:spcPct val="120000"/>
              </a:lnSpc>
            </a:pPr>
            <a:r>
              <a:rPr lang="en-US" dirty="0"/>
              <a:t>Acceptable duplication, k-</a:t>
            </a:r>
            <a:r>
              <a:rPr lang="en-US" dirty="0" err="1"/>
              <a:t>mer</a:t>
            </a:r>
            <a:r>
              <a:rPr lang="en-US" dirty="0"/>
              <a:t> or GC content levels are experiment- and organism-specific, but these values should be homogeneous for samples in the same experiments.</a:t>
            </a:r>
          </a:p>
          <a:p>
            <a:pPr latinLnBrk="0">
              <a:lnSpc>
                <a:spcPct val="120000"/>
              </a:lnSpc>
            </a:pPr>
            <a:endParaRPr lang="en-US" dirty="0"/>
          </a:p>
          <a:p>
            <a:pPr latinLnBrk="0">
              <a:lnSpc>
                <a:spcPct val="120000"/>
              </a:lnSpc>
            </a:pPr>
            <a:r>
              <a:rPr lang="en-US" dirty="0"/>
              <a:t>Outliers with over 30% disagreement to be discarded.</a:t>
            </a:r>
          </a:p>
          <a:p>
            <a:pPr latinLnBrk="0">
              <a:lnSpc>
                <a:spcPct val="120000"/>
              </a:lnSpc>
            </a:pPr>
            <a:endParaRPr lang="en-US" dirty="0"/>
          </a:p>
          <a:p>
            <a:pPr latinLnBrk="0">
              <a:lnSpc>
                <a:spcPct val="120000"/>
              </a:lnSpc>
            </a:pPr>
            <a:r>
              <a:rPr lang="en-US" dirty="0" err="1"/>
              <a:t>FastQC</a:t>
            </a:r>
            <a:r>
              <a:rPr lang="en-US" dirty="0"/>
              <a:t> is a popular tool to perform QC on raw reads on Illumina reads.</a:t>
            </a:r>
          </a:p>
          <a:p>
            <a:pPr marL="0" indent="0" latinLnBrk="0">
              <a:buNone/>
            </a:pPr>
            <a:endParaRPr lang="en-US" dirty="0"/>
          </a:p>
        </p:txBody>
      </p:sp>
    </p:spTree>
    <p:extLst>
      <p:ext uri="{BB962C8B-B14F-4D97-AF65-F5344CB8AC3E}">
        <p14:creationId xmlns:p14="http://schemas.microsoft.com/office/powerpoint/2010/main" val="986498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QC: Raw reads</a:t>
            </a:r>
            <a:endParaRPr lang="en-US" dirty="0"/>
          </a:p>
        </p:txBody>
      </p:sp>
      <p:sp>
        <p:nvSpPr>
          <p:cNvPr id="3" name="내용 개체 틀 2"/>
          <p:cNvSpPr>
            <a:spLocks noGrp="1"/>
          </p:cNvSpPr>
          <p:nvPr>
            <p:ph idx="1"/>
          </p:nvPr>
        </p:nvSpPr>
        <p:spPr/>
        <p:txBody>
          <a:bodyPr/>
          <a:lstStyle/>
          <a:p>
            <a:pPr latinLnBrk="0"/>
            <a:r>
              <a:rPr lang="en-US" dirty="0"/>
              <a:t>As a general rule, read quality decreases towards the 3’ end of reads.</a:t>
            </a:r>
          </a:p>
          <a:p>
            <a:pPr latinLnBrk="0"/>
            <a:endParaRPr lang="en-US" dirty="0"/>
          </a:p>
          <a:p>
            <a:pPr latinLnBrk="0"/>
            <a:r>
              <a:rPr lang="en-US" dirty="0"/>
              <a:t>If it becomes too low, bases should be removed to improve </a:t>
            </a:r>
            <a:r>
              <a:rPr lang="en-US" dirty="0" err="1"/>
              <a:t>mappability</a:t>
            </a:r>
            <a:r>
              <a:rPr lang="en-US" dirty="0"/>
              <a:t>.</a:t>
            </a:r>
          </a:p>
          <a:p>
            <a:pPr latinLnBrk="0"/>
            <a:endParaRPr lang="en-US" dirty="0"/>
          </a:p>
          <a:p>
            <a:pPr latinLnBrk="0"/>
            <a:r>
              <a:rPr lang="en-US" dirty="0"/>
              <a:t>FASTX-Toolkit and </a:t>
            </a:r>
            <a:r>
              <a:rPr lang="en-US" dirty="0" err="1"/>
              <a:t>Trimmomatic</a:t>
            </a:r>
            <a:r>
              <a:rPr lang="en-US" dirty="0"/>
              <a:t> can be used to discard low-quality reads, trim adaptor sequences, and eliminate poor-quality bases.</a:t>
            </a:r>
          </a:p>
        </p:txBody>
      </p:sp>
    </p:spTree>
    <p:extLst>
      <p:ext uri="{BB962C8B-B14F-4D97-AF65-F5344CB8AC3E}">
        <p14:creationId xmlns:p14="http://schemas.microsoft.com/office/powerpoint/2010/main" val="1527084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QC: Read alignment</a:t>
            </a:r>
          </a:p>
        </p:txBody>
      </p:sp>
      <p:sp>
        <p:nvSpPr>
          <p:cNvPr id="3" name="내용 개체 틀 2"/>
          <p:cNvSpPr>
            <a:spLocks noGrp="1"/>
          </p:cNvSpPr>
          <p:nvPr>
            <p:ph idx="1"/>
          </p:nvPr>
        </p:nvSpPr>
        <p:spPr/>
        <p:txBody>
          <a:bodyPr>
            <a:normAutofit fontScale="85000" lnSpcReduction="10000"/>
          </a:bodyPr>
          <a:lstStyle/>
          <a:p>
            <a:pPr latinLnBrk="0">
              <a:lnSpc>
                <a:spcPct val="110000"/>
              </a:lnSpc>
            </a:pPr>
            <a:r>
              <a:rPr lang="en-US" dirty="0">
                <a:solidFill>
                  <a:srgbClr val="FF0000"/>
                </a:solidFill>
              </a:rPr>
              <a:t>The percentage of mapped reads</a:t>
            </a:r>
            <a:r>
              <a:rPr lang="en-US" dirty="0"/>
              <a:t> is a global indicator of the overall sequencing accuracy and of the presence of contaminating DNA.</a:t>
            </a:r>
          </a:p>
          <a:p>
            <a:pPr latinLnBrk="0">
              <a:lnSpc>
                <a:spcPct val="110000"/>
              </a:lnSpc>
            </a:pPr>
            <a:endParaRPr lang="en-US" dirty="0"/>
          </a:p>
          <a:p>
            <a:pPr latinLnBrk="0">
              <a:lnSpc>
                <a:spcPct val="110000"/>
              </a:lnSpc>
            </a:pPr>
            <a:r>
              <a:rPr lang="en-US" dirty="0"/>
              <a:t>We expect 70-90% of regular RNA-</a:t>
            </a:r>
            <a:r>
              <a:rPr lang="en-US" dirty="0" err="1"/>
              <a:t>seq</a:t>
            </a:r>
            <a:r>
              <a:rPr lang="en-US" dirty="0"/>
              <a:t> reads to map onto the human genome depending on the reads mapper used (with a significant fraction of multi-mapping reads).</a:t>
            </a:r>
          </a:p>
          <a:p>
            <a:pPr latinLnBrk="0">
              <a:lnSpc>
                <a:spcPct val="110000"/>
              </a:lnSpc>
            </a:pPr>
            <a:endParaRPr lang="en-US" dirty="0"/>
          </a:p>
          <a:p>
            <a:pPr latinLnBrk="0">
              <a:lnSpc>
                <a:spcPct val="110000"/>
              </a:lnSpc>
            </a:pPr>
            <a:r>
              <a:rPr lang="en-US" dirty="0"/>
              <a:t>When reads are mapped against the transcriptome, we expect slightly lower total mapping percentages and more multi-mapping reads.</a:t>
            </a:r>
          </a:p>
        </p:txBody>
      </p:sp>
    </p:spTree>
    <p:extLst>
      <p:ext uri="{BB962C8B-B14F-4D97-AF65-F5344CB8AC3E}">
        <p14:creationId xmlns:p14="http://schemas.microsoft.com/office/powerpoint/2010/main" val="803051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QC: Read alignment</a:t>
            </a:r>
            <a:endParaRPr lang="en-US" dirty="0"/>
          </a:p>
        </p:txBody>
      </p:sp>
      <p:sp>
        <p:nvSpPr>
          <p:cNvPr id="3" name="내용 개체 틀 2"/>
          <p:cNvSpPr>
            <a:spLocks noGrp="1"/>
          </p:cNvSpPr>
          <p:nvPr>
            <p:ph idx="1"/>
          </p:nvPr>
        </p:nvSpPr>
        <p:spPr/>
        <p:txBody>
          <a:bodyPr>
            <a:normAutofit fontScale="85000" lnSpcReduction="20000"/>
          </a:bodyPr>
          <a:lstStyle/>
          <a:p>
            <a:pPr latinLnBrk="0">
              <a:lnSpc>
                <a:spcPct val="110000"/>
              </a:lnSpc>
            </a:pPr>
            <a:r>
              <a:rPr lang="en-US" dirty="0"/>
              <a:t>The uniformity of read coverage on exons and the mapped strand are other important parameters. </a:t>
            </a:r>
          </a:p>
          <a:p>
            <a:pPr latinLnBrk="0">
              <a:lnSpc>
                <a:spcPct val="110000"/>
              </a:lnSpc>
            </a:pPr>
            <a:endParaRPr lang="en-US" dirty="0"/>
          </a:p>
          <a:p>
            <a:pPr latinLnBrk="0">
              <a:lnSpc>
                <a:spcPct val="110000"/>
              </a:lnSpc>
            </a:pPr>
            <a:r>
              <a:rPr lang="en-US" dirty="0"/>
              <a:t>If reads primarily accumulate at the 3’ end of transcripts in poly(A)-selected samples, this might indicate low RNA quality in the starting material.</a:t>
            </a:r>
          </a:p>
          <a:p>
            <a:pPr latinLnBrk="0">
              <a:lnSpc>
                <a:spcPct val="110000"/>
              </a:lnSpc>
            </a:pPr>
            <a:endParaRPr lang="en-US" dirty="0"/>
          </a:p>
          <a:p>
            <a:pPr latinLnBrk="0">
              <a:lnSpc>
                <a:spcPct val="110000"/>
              </a:lnSpc>
            </a:pPr>
            <a:r>
              <a:rPr lang="en-US" dirty="0"/>
              <a:t>The GC content of mapped reads may reveal PCR biases.</a:t>
            </a:r>
          </a:p>
          <a:p>
            <a:pPr latinLnBrk="0">
              <a:lnSpc>
                <a:spcPct val="110000"/>
              </a:lnSpc>
            </a:pPr>
            <a:endParaRPr lang="en-US" dirty="0"/>
          </a:p>
          <a:p>
            <a:pPr latinLnBrk="0">
              <a:lnSpc>
                <a:spcPct val="110000"/>
              </a:lnSpc>
            </a:pPr>
            <a:r>
              <a:rPr lang="en-US" dirty="0"/>
              <a:t>Picard, </a:t>
            </a:r>
            <a:r>
              <a:rPr lang="en-US" dirty="0" err="1"/>
              <a:t>RSeQC</a:t>
            </a:r>
            <a:r>
              <a:rPr lang="en-US" dirty="0"/>
              <a:t> and </a:t>
            </a:r>
            <a:r>
              <a:rPr lang="en-US" dirty="0" err="1"/>
              <a:t>Qualimap</a:t>
            </a:r>
            <a:r>
              <a:rPr lang="en-US" dirty="0"/>
              <a:t> are tools for QC in mapping.</a:t>
            </a:r>
          </a:p>
        </p:txBody>
      </p:sp>
    </p:spTree>
    <p:extLst>
      <p:ext uri="{BB962C8B-B14F-4D97-AF65-F5344CB8AC3E}">
        <p14:creationId xmlns:p14="http://schemas.microsoft.com/office/powerpoint/2010/main" val="2683949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QC: Read count</a:t>
            </a:r>
          </a:p>
        </p:txBody>
      </p:sp>
      <p:sp>
        <p:nvSpPr>
          <p:cNvPr id="3" name="내용 개체 틀 2"/>
          <p:cNvSpPr>
            <a:spLocks noGrp="1"/>
          </p:cNvSpPr>
          <p:nvPr>
            <p:ph idx="1"/>
          </p:nvPr>
        </p:nvSpPr>
        <p:spPr/>
        <p:txBody>
          <a:bodyPr>
            <a:normAutofit fontScale="70000" lnSpcReduction="20000"/>
          </a:bodyPr>
          <a:lstStyle/>
          <a:p>
            <a:pPr latinLnBrk="0">
              <a:lnSpc>
                <a:spcPct val="120000"/>
              </a:lnSpc>
            </a:pPr>
            <a:r>
              <a:rPr lang="en-US" dirty="0"/>
              <a:t>Once actual transcript quantification values have been calculated, GC content and gene length biases should be checked.</a:t>
            </a:r>
          </a:p>
          <a:p>
            <a:pPr latinLnBrk="0">
              <a:lnSpc>
                <a:spcPct val="120000"/>
              </a:lnSpc>
            </a:pPr>
            <a:endParaRPr lang="en-US" dirty="0"/>
          </a:p>
          <a:p>
            <a:pPr latinLnBrk="0">
              <a:lnSpc>
                <a:spcPct val="120000"/>
              </a:lnSpc>
            </a:pPr>
            <a:r>
              <a:rPr lang="en-US" dirty="0"/>
              <a:t>If the reference transcriptome is well annotated, we can analyze the biotype composition of the sample, which is indicative of the quality of the RNA purification step.</a:t>
            </a:r>
          </a:p>
          <a:p>
            <a:pPr latinLnBrk="0">
              <a:lnSpc>
                <a:spcPct val="120000"/>
              </a:lnSpc>
            </a:pPr>
            <a:endParaRPr lang="en-US" dirty="0"/>
          </a:p>
          <a:p>
            <a:pPr latinLnBrk="0">
              <a:lnSpc>
                <a:spcPct val="120000"/>
              </a:lnSpc>
            </a:pPr>
            <a:r>
              <a:rPr lang="en-US" dirty="0" err="1"/>
              <a:t>rRNA</a:t>
            </a:r>
            <a:r>
              <a:rPr lang="en-US" dirty="0"/>
              <a:t> and small RNAs should not be present in regular poly(A) selection.</a:t>
            </a:r>
          </a:p>
          <a:p>
            <a:pPr latinLnBrk="0">
              <a:lnSpc>
                <a:spcPct val="120000"/>
              </a:lnSpc>
            </a:pPr>
            <a:endParaRPr lang="en-US" dirty="0"/>
          </a:p>
          <a:p>
            <a:pPr latinLnBrk="0">
              <a:lnSpc>
                <a:spcPct val="120000"/>
              </a:lnSpc>
            </a:pPr>
            <a:r>
              <a:rPr lang="en-US" dirty="0"/>
              <a:t>A number of R packages (</a:t>
            </a:r>
            <a:r>
              <a:rPr lang="en-US" dirty="0" err="1"/>
              <a:t>NOISeq</a:t>
            </a:r>
            <a:r>
              <a:rPr lang="en-US" dirty="0"/>
              <a:t> and EDA-</a:t>
            </a:r>
            <a:r>
              <a:rPr lang="en-US" dirty="0" err="1"/>
              <a:t>Seq</a:t>
            </a:r>
            <a:r>
              <a:rPr lang="en-US" dirty="0"/>
              <a:t>) provide useful plots for QC of read count.</a:t>
            </a:r>
          </a:p>
        </p:txBody>
      </p:sp>
    </p:spTree>
    <p:extLst>
      <p:ext uri="{BB962C8B-B14F-4D97-AF65-F5344CB8AC3E}">
        <p14:creationId xmlns:p14="http://schemas.microsoft.com/office/powerpoint/2010/main" val="1589378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QC: Reproducibility</a:t>
            </a:r>
          </a:p>
        </p:txBody>
      </p:sp>
      <p:sp>
        <p:nvSpPr>
          <p:cNvPr id="3" name="내용 개체 틀 2"/>
          <p:cNvSpPr>
            <a:spLocks noGrp="1"/>
          </p:cNvSpPr>
          <p:nvPr>
            <p:ph idx="1"/>
          </p:nvPr>
        </p:nvSpPr>
        <p:spPr/>
        <p:txBody>
          <a:bodyPr>
            <a:normAutofit fontScale="77500" lnSpcReduction="20000"/>
          </a:bodyPr>
          <a:lstStyle/>
          <a:p>
            <a:pPr latinLnBrk="0">
              <a:lnSpc>
                <a:spcPct val="120000"/>
              </a:lnSpc>
            </a:pPr>
            <a:r>
              <a:rPr lang="en-US" dirty="0"/>
              <a:t>It is also crucial to assess the global quality of the RNA-</a:t>
            </a:r>
            <a:r>
              <a:rPr lang="en-US" dirty="0" err="1"/>
              <a:t>seq</a:t>
            </a:r>
            <a:r>
              <a:rPr lang="en-US" dirty="0"/>
              <a:t> dataset by checking on the reproducibility among replicates and for possible batch effects.</a:t>
            </a:r>
          </a:p>
          <a:p>
            <a:pPr latinLnBrk="0">
              <a:lnSpc>
                <a:spcPct val="120000"/>
              </a:lnSpc>
            </a:pPr>
            <a:endParaRPr lang="en-US" dirty="0"/>
          </a:p>
          <a:p>
            <a:pPr latinLnBrk="0">
              <a:lnSpc>
                <a:spcPct val="120000"/>
              </a:lnSpc>
            </a:pPr>
            <a:r>
              <a:rPr lang="en-US" dirty="0"/>
              <a:t>Reproducibility among technical replicates should be generally high (Spearman’s rho &gt; 0.9), but no clear standard exists for biological replicates, as this depends on the heterogeneity of the experimental system.</a:t>
            </a:r>
          </a:p>
          <a:p>
            <a:pPr latinLnBrk="0">
              <a:lnSpc>
                <a:spcPct val="120000"/>
              </a:lnSpc>
            </a:pPr>
            <a:endParaRPr lang="en-US" dirty="0"/>
          </a:p>
          <a:p>
            <a:pPr latinLnBrk="0">
              <a:lnSpc>
                <a:spcPct val="120000"/>
              </a:lnSpc>
            </a:pPr>
            <a:r>
              <a:rPr lang="en-US" dirty="0"/>
              <a:t>If gene expression differences exist among experimental conditions, it should be expected that biological replicates of the same condition will cluster together in a PCA.</a:t>
            </a:r>
          </a:p>
        </p:txBody>
      </p:sp>
    </p:spTree>
    <p:extLst>
      <p:ext uri="{BB962C8B-B14F-4D97-AF65-F5344CB8AC3E}">
        <p14:creationId xmlns:p14="http://schemas.microsoft.com/office/powerpoint/2010/main" val="15330879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Core-analysis</a:t>
            </a:r>
          </a:p>
        </p:txBody>
      </p:sp>
      <p:pic>
        <p:nvPicPr>
          <p:cNvPr id="3" name="그림 2"/>
          <p:cNvPicPr>
            <a:picLocks noChangeAspect="1"/>
          </p:cNvPicPr>
          <p:nvPr/>
        </p:nvPicPr>
        <p:blipFill>
          <a:blip r:embed="rId2"/>
          <a:stretch>
            <a:fillRect/>
          </a:stretch>
        </p:blipFill>
        <p:spPr>
          <a:xfrm>
            <a:off x="71999" y="2448000"/>
            <a:ext cx="12066649" cy="2554912"/>
          </a:xfrm>
          <a:prstGeom prst="rect">
            <a:avLst/>
          </a:prstGeom>
        </p:spPr>
      </p:pic>
    </p:spTree>
    <p:extLst>
      <p:ext uri="{BB962C8B-B14F-4D97-AF65-F5344CB8AC3E}">
        <p14:creationId xmlns:p14="http://schemas.microsoft.com/office/powerpoint/2010/main" val="3020309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Alignment</a:t>
            </a:r>
            <a:endParaRPr lang="en-US" dirty="0"/>
          </a:p>
        </p:txBody>
      </p:sp>
      <p:pic>
        <p:nvPicPr>
          <p:cNvPr id="4" name="그림 3"/>
          <p:cNvPicPr>
            <a:picLocks noChangeAspect="1"/>
          </p:cNvPicPr>
          <p:nvPr/>
        </p:nvPicPr>
        <p:blipFill>
          <a:blip r:embed="rId2"/>
          <a:stretch>
            <a:fillRect/>
          </a:stretch>
        </p:blipFill>
        <p:spPr>
          <a:xfrm>
            <a:off x="1317600" y="1415575"/>
            <a:ext cx="9216337" cy="5421762"/>
          </a:xfrm>
          <a:prstGeom prst="rect">
            <a:avLst/>
          </a:prstGeom>
        </p:spPr>
      </p:pic>
    </p:spTree>
    <p:extLst>
      <p:ext uri="{BB962C8B-B14F-4D97-AF65-F5344CB8AC3E}">
        <p14:creationId xmlns:p14="http://schemas.microsoft.com/office/powerpoint/2010/main" val="1098518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Alignment</a:t>
            </a:r>
          </a:p>
        </p:txBody>
      </p:sp>
      <p:sp>
        <p:nvSpPr>
          <p:cNvPr id="3" name="내용 개체 틀 2"/>
          <p:cNvSpPr>
            <a:spLocks noGrp="1"/>
          </p:cNvSpPr>
          <p:nvPr>
            <p:ph idx="1"/>
          </p:nvPr>
        </p:nvSpPr>
        <p:spPr/>
        <p:txBody>
          <a:bodyPr>
            <a:normAutofit fontScale="62500" lnSpcReduction="20000"/>
          </a:bodyPr>
          <a:lstStyle/>
          <a:p>
            <a:pPr latinLnBrk="0">
              <a:lnSpc>
                <a:spcPct val="120000"/>
              </a:lnSpc>
            </a:pPr>
            <a:r>
              <a:rPr lang="en-US" dirty="0"/>
              <a:t>When a reference genome sequence is available, two alternative approaches are possible:</a:t>
            </a:r>
          </a:p>
          <a:p>
            <a:pPr marL="914400" lvl="1" indent="-457200" latinLnBrk="0">
              <a:lnSpc>
                <a:spcPct val="120000"/>
              </a:lnSpc>
              <a:buFont typeface="+mj-lt"/>
              <a:buAutoNum type="arabicPeriod"/>
            </a:pPr>
            <a:r>
              <a:rPr lang="en-US" dirty="0"/>
              <a:t>Mapping to the genome</a:t>
            </a:r>
          </a:p>
          <a:p>
            <a:pPr marL="914400" lvl="1" indent="-457200" latinLnBrk="0">
              <a:lnSpc>
                <a:spcPct val="120000"/>
              </a:lnSpc>
              <a:buFont typeface="+mj-lt"/>
              <a:buAutoNum type="arabicPeriod"/>
            </a:pPr>
            <a:r>
              <a:rPr lang="en-US" dirty="0"/>
              <a:t>Mapping to the annotated transcriptome</a:t>
            </a:r>
          </a:p>
          <a:p>
            <a:pPr marL="914400" lvl="1" indent="-457200" latinLnBrk="0">
              <a:lnSpc>
                <a:spcPct val="120000"/>
              </a:lnSpc>
              <a:buFont typeface="+mj-lt"/>
              <a:buAutoNum type="arabicPeriod"/>
            </a:pPr>
            <a:endParaRPr lang="en-US" dirty="0"/>
          </a:p>
          <a:p>
            <a:pPr latinLnBrk="0">
              <a:lnSpc>
                <a:spcPct val="120000"/>
              </a:lnSpc>
            </a:pPr>
            <a:r>
              <a:rPr lang="en-US" dirty="0"/>
              <a:t>Reads may map uniquely or could be multi-mapped reads.</a:t>
            </a:r>
          </a:p>
          <a:p>
            <a:pPr latinLnBrk="0">
              <a:lnSpc>
                <a:spcPct val="120000"/>
              </a:lnSpc>
            </a:pPr>
            <a:endParaRPr lang="en-US" dirty="0"/>
          </a:p>
          <a:p>
            <a:pPr latinLnBrk="0">
              <a:lnSpc>
                <a:spcPct val="120000"/>
              </a:lnSpc>
            </a:pPr>
            <a:r>
              <a:rPr lang="en-US" dirty="0"/>
              <a:t>Genomic multi-mapped reads are primarily due to repetitive sequences or shared domains of paralogous genes. </a:t>
            </a:r>
          </a:p>
          <a:p>
            <a:pPr latinLnBrk="0">
              <a:lnSpc>
                <a:spcPct val="120000"/>
              </a:lnSpc>
            </a:pPr>
            <a:endParaRPr lang="en-US" dirty="0"/>
          </a:p>
          <a:p>
            <a:pPr latinLnBrk="0">
              <a:lnSpc>
                <a:spcPct val="120000"/>
              </a:lnSpc>
            </a:pPr>
            <a:r>
              <a:rPr lang="en-US" altLang="ko-KR" dirty="0"/>
              <a:t>When the reference is the transcriptome, multi-mapped reads arise even more often because a read that would have been uniquely mapped on the genome would map equally well to all gene isoforms in the transcriptome that share the exon. </a:t>
            </a:r>
            <a:endParaRPr lang="en-US" dirty="0"/>
          </a:p>
          <a:p>
            <a:endParaRPr lang="en-US" dirty="0"/>
          </a:p>
          <a:p>
            <a:endParaRPr lang="en-US" dirty="0"/>
          </a:p>
        </p:txBody>
      </p:sp>
    </p:spTree>
    <p:extLst>
      <p:ext uri="{BB962C8B-B14F-4D97-AF65-F5344CB8AC3E}">
        <p14:creationId xmlns:p14="http://schemas.microsoft.com/office/powerpoint/2010/main" val="2235843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Alignment</a:t>
            </a:r>
            <a:endParaRPr lang="en-US" dirty="0"/>
          </a:p>
        </p:txBody>
      </p:sp>
      <p:sp>
        <p:nvSpPr>
          <p:cNvPr id="3" name="내용 개체 틀 2"/>
          <p:cNvSpPr>
            <a:spLocks noGrp="1"/>
          </p:cNvSpPr>
          <p:nvPr>
            <p:ph idx="1"/>
          </p:nvPr>
        </p:nvSpPr>
        <p:spPr/>
        <p:txBody>
          <a:bodyPr>
            <a:normAutofit fontScale="92500"/>
          </a:bodyPr>
          <a:lstStyle/>
          <a:p>
            <a:pPr latinLnBrk="0"/>
            <a:r>
              <a:rPr lang="en-US" dirty="0"/>
              <a:t>Mapping to a reference genome allows for the identification of novel genes or transcripts, and requires the use of a gapped or spliced mappers as reads may span splice junctions.</a:t>
            </a:r>
          </a:p>
          <a:p>
            <a:pPr latinLnBrk="0"/>
            <a:endParaRPr lang="en-US" dirty="0"/>
          </a:p>
          <a:p>
            <a:pPr latinLnBrk="0"/>
            <a:r>
              <a:rPr lang="en-US" dirty="0"/>
              <a:t>The challenge is to identify splice junctions correctly, especially when sequencing errors or differences with the reference exist or when non-canonical junctions and fusion transcripts are sought.</a:t>
            </a:r>
          </a:p>
          <a:p>
            <a:pPr latinLnBrk="0"/>
            <a:endParaRPr lang="en-US" dirty="0"/>
          </a:p>
          <a:p>
            <a:pPr latinLnBrk="0"/>
            <a:r>
              <a:rPr lang="en-US" dirty="0" err="1"/>
              <a:t>TopHat</a:t>
            </a:r>
            <a:r>
              <a:rPr lang="en-US" dirty="0"/>
              <a:t>, GSNAP, STAR are popular tools for mapping to a reference genome sequence with a gapped alignment</a:t>
            </a:r>
          </a:p>
        </p:txBody>
      </p:sp>
    </p:spTree>
    <p:extLst>
      <p:ext uri="{BB962C8B-B14F-4D97-AF65-F5344CB8AC3E}">
        <p14:creationId xmlns:p14="http://schemas.microsoft.com/office/powerpoint/2010/main" val="1702601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Alignment</a:t>
            </a:r>
            <a:endParaRPr lang="en-US" dirty="0"/>
          </a:p>
        </p:txBody>
      </p:sp>
      <p:sp>
        <p:nvSpPr>
          <p:cNvPr id="3" name="내용 개체 틀 2"/>
          <p:cNvSpPr>
            <a:spLocks noGrp="1"/>
          </p:cNvSpPr>
          <p:nvPr>
            <p:ph idx="1"/>
          </p:nvPr>
        </p:nvSpPr>
        <p:spPr/>
        <p:txBody>
          <a:bodyPr/>
          <a:lstStyle/>
          <a:p>
            <a:r>
              <a:rPr lang="en-US" dirty="0"/>
              <a:t>Important parameters to consider during mapping:</a:t>
            </a:r>
          </a:p>
          <a:p>
            <a:pPr lvl="1"/>
            <a:r>
              <a:rPr lang="en-US" dirty="0" err="1"/>
              <a:t>Strandedness</a:t>
            </a:r>
            <a:endParaRPr lang="en-US" dirty="0"/>
          </a:p>
          <a:p>
            <a:pPr lvl="1"/>
            <a:r>
              <a:rPr lang="en-US" dirty="0"/>
              <a:t>The number of mismatches to accept</a:t>
            </a:r>
          </a:p>
          <a:p>
            <a:pPr lvl="1"/>
            <a:r>
              <a:rPr lang="en-US" dirty="0"/>
              <a:t>The length and type of reads</a:t>
            </a:r>
          </a:p>
          <a:p>
            <a:pPr lvl="1"/>
            <a:r>
              <a:rPr lang="en-US" dirty="0"/>
              <a:t>The length of sequenced fragments</a:t>
            </a:r>
          </a:p>
          <a:p>
            <a:pPr lvl="1"/>
            <a:r>
              <a:rPr lang="en-US" dirty="0"/>
              <a:t>Gene models</a:t>
            </a:r>
          </a:p>
          <a:p>
            <a:pPr lvl="1"/>
            <a:r>
              <a:rPr lang="en-US" dirty="0"/>
              <a:t>Annotated exon and intron coordinates</a:t>
            </a:r>
          </a:p>
          <a:p>
            <a:pPr lvl="1"/>
            <a:endParaRPr lang="en-US" dirty="0"/>
          </a:p>
          <a:p>
            <a:pPr marL="0" indent="0">
              <a:buNone/>
            </a:pPr>
            <a:endParaRPr lang="en-US" dirty="0"/>
          </a:p>
        </p:txBody>
      </p:sp>
    </p:spTree>
    <p:extLst>
      <p:ext uri="{BB962C8B-B14F-4D97-AF65-F5344CB8AC3E}">
        <p14:creationId xmlns:p14="http://schemas.microsoft.com/office/powerpoint/2010/main" val="1801050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Alignment</a:t>
            </a:r>
            <a:endParaRPr lang="en-US" dirty="0"/>
          </a:p>
        </p:txBody>
      </p:sp>
      <p:sp>
        <p:nvSpPr>
          <p:cNvPr id="3" name="내용 개체 틀 2"/>
          <p:cNvSpPr>
            <a:spLocks noGrp="1"/>
          </p:cNvSpPr>
          <p:nvPr>
            <p:ph idx="1"/>
          </p:nvPr>
        </p:nvSpPr>
        <p:spPr/>
        <p:txBody>
          <a:bodyPr/>
          <a:lstStyle/>
          <a:p>
            <a:pPr latinLnBrk="0"/>
            <a:r>
              <a:rPr lang="en-US" dirty="0"/>
              <a:t>If the transcriptome annotation is comprehensive (in mouse or human) we may choose to map directly to a FASTA file of all transcript sequences for all genes of interests. </a:t>
            </a:r>
          </a:p>
          <a:p>
            <a:pPr latinLnBrk="0"/>
            <a:endParaRPr lang="en-US" dirty="0"/>
          </a:p>
          <a:p>
            <a:pPr latinLnBrk="0"/>
            <a:r>
              <a:rPr lang="en-US" dirty="0"/>
              <a:t>No gapped alignment is needed and </a:t>
            </a:r>
            <a:r>
              <a:rPr lang="en-US" dirty="0" err="1"/>
              <a:t>unspliced</a:t>
            </a:r>
            <a:r>
              <a:rPr lang="en-US" dirty="0"/>
              <a:t> mappers such as Bowtie can be used.</a:t>
            </a:r>
          </a:p>
          <a:p>
            <a:pPr latinLnBrk="0"/>
            <a:endParaRPr lang="en-US" dirty="0"/>
          </a:p>
          <a:p>
            <a:pPr latinLnBrk="0"/>
            <a:r>
              <a:rPr lang="en-US" dirty="0"/>
              <a:t>Mapping to the transcriptome is generally faster but does not allow de novo transcript discovery.</a:t>
            </a:r>
          </a:p>
          <a:p>
            <a:endParaRPr lang="en-US" dirty="0"/>
          </a:p>
        </p:txBody>
      </p:sp>
    </p:spTree>
    <p:extLst>
      <p:ext uri="{BB962C8B-B14F-4D97-AF65-F5344CB8AC3E}">
        <p14:creationId xmlns:p14="http://schemas.microsoft.com/office/powerpoint/2010/main" val="468676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Transcript discovery</a:t>
            </a:r>
          </a:p>
        </p:txBody>
      </p:sp>
      <p:sp>
        <p:nvSpPr>
          <p:cNvPr id="3" name="내용 개체 틀 2"/>
          <p:cNvSpPr>
            <a:spLocks noGrp="1"/>
          </p:cNvSpPr>
          <p:nvPr>
            <p:ph idx="1"/>
          </p:nvPr>
        </p:nvSpPr>
        <p:spPr/>
        <p:txBody>
          <a:bodyPr>
            <a:normAutofit fontScale="92500" lnSpcReduction="10000"/>
          </a:bodyPr>
          <a:lstStyle/>
          <a:p>
            <a:pPr latinLnBrk="0">
              <a:lnSpc>
                <a:spcPct val="110000"/>
              </a:lnSpc>
            </a:pPr>
            <a:r>
              <a:rPr lang="en-US" dirty="0"/>
              <a:t>Identifying novel transcripts using the short reads is one of the most challenging tasks in RNA-seq.</a:t>
            </a:r>
          </a:p>
          <a:p>
            <a:pPr latinLnBrk="0">
              <a:lnSpc>
                <a:spcPct val="110000"/>
              </a:lnSpc>
            </a:pPr>
            <a:endParaRPr lang="en-US" dirty="0"/>
          </a:p>
          <a:p>
            <a:pPr latinLnBrk="0">
              <a:lnSpc>
                <a:spcPct val="110000"/>
              </a:lnSpc>
            </a:pPr>
            <a:r>
              <a:rPr lang="en-US" dirty="0"/>
              <a:t>PE reads and higher coverage help to reconstruct lowly expressed transcripts, and replicates are essential to resolve false-positive calls.</a:t>
            </a:r>
          </a:p>
          <a:p>
            <a:pPr latinLnBrk="0">
              <a:lnSpc>
                <a:spcPct val="110000"/>
              </a:lnSpc>
            </a:pPr>
            <a:endParaRPr lang="en-US" dirty="0"/>
          </a:p>
          <a:p>
            <a:pPr latinLnBrk="0">
              <a:lnSpc>
                <a:spcPct val="110000"/>
              </a:lnSpc>
            </a:pPr>
            <a:r>
              <a:rPr lang="en-US" dirty="0"/>
              <a:t>In general, accurate transcript reconstruction from short reads is difficult, and methods typically show substantial disagreement.</a:t>
            </a:r>
          </a:p>
          <a:p>
            <a:endParaRPr lang="en-US" dirty="0"/>
          </a:p>
          <a:p>
            <a:endParaRPr lang="en-US" dirty="0"/>
          </a:p>
        </p:txBody>
      </p:sp>
    </p:spTree>
    <p:extLst>
      <p:ext uri="{BB962C8B-B14F-4D97-AF65-F5344CB8AC3E}">
        <p14:creationId xmlns:p14="http://schemas.microsoft.com/office/powerpoint/2010/main" val="34341438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Transcript quantification</a:t>
            </a:r>
          </a:p>
        </p:txBody>
      </p:sp>
      <p:sp>
        <p:nvSpPr>
          <p:cNvPr id="3" name="내용 개체 틀 2"/>
          <p:cNvSpPr>
            <a:spLocks noGrp="1"/>
          </p:cNvSpPr>
          <p:nvPr>
            <p:ph idx="1"/>
          </p:nvPr>
        </p:nvSpPr>
        <p:spPr/>
        <p:txBody>
          <a:bodyPr>
            <a:normAutofit lnSpcReduction="10000"/>
          </a:bodyPr>
          <a:lstStyle/>
          <a:p>
            <a:pPr latinLnBrk="0">
              <a:lnSpc>
                <a:spcPct val="100000"/>
              </a:lnSpc>
            </a:pPr>
            <a:r>
              <a:rPr lang="en-US" dirty="0"/>
              <a:t>The most common application of RNA-</a:t>
            </a:r>
            <a:r>
              <a:rPr lang="en-US" dirty="0" err="1"/>
              <a:t>seq</a:t>
            </a:r>
            <a:r>
              <a:rPr lang="en-US" dirty="0"/>
              <a:t> is to estimate gene and transcript expression based on the number of reads that map to each transcript sequence.</a:t>
            </a:r>
          </a:p>
          <a:p>
            <a:pPr latinLnBrk="0">
              <a:lnSpc>
                <a:spcPct val="100000"/>
              </a:lnSpc>
            </a:pPr>
            <a:endParaRPr lang="en-US" dirty="0"/>
          </a:p>
          <a:p>
            <a:pPr latinLnBrk="0">
              <a:lnSpc>
                <a:spcPct val="100000"/>
              </a:lnSpc>
            </a:pPr>
            <a:r>
              <a:rPr lang="en-US" dirty="0"/>
              <a:t>Gene-level count: </a:t>
            </a:r>
          </a:p>
          <a:p>
            <a:pPr lvl="1" latinLnBrk="0">
              <a:lnSpc>
                <a:spcPct val="100000"/>
              </a:lnSpc>
            </a:pPr>
            <a:r>
              <a:rPr lang="en-US" dirty="0"/>
              <a:t>Aggregate raw counts of mapped reads using tools such as </a:t>
            </a:r>
            <a:r>
              <a:rPr lang="en-US" dirty="0" err="1"/>
              <a:t>HTSeq</a:t>
            </a:r>
            <a:r>
              <a:rPr lang="en-US" dirty="0"/>
              <a:t>-count or </a:t>
            </a:r>
            <a:r>
              <a:rPr lang="en-US" dirty="0" err="1"/>
              <a:t>featureCounts</a:t>
            </a:r>
            <a:r>
              <a:rPr lang="en-US" dirty="0"/>
              <a:t>.</a:t>
            </a:r>
          </a:p>
          <a:p>
            <a:pPr lvl="1" latinLnBrk="0">
              <a:lnSpc>
                <a:spcPct val="100000"/>
              </a:lnSpc>
            </a:pPr>
            <a:r>
              <a:rPr lang="en-US" dirty="0"/>
              <a:t>Utilizes a GTF file containing the genome coordinates of exons and genes.</a:t>
            </a:r>
          </a:p>
          <a:p>
            <a:pPr lvl="1" latinLnBrk="0">
              <a:lnSpc>
                <a:spcPct val="100000"/>
              </a:lnSpc>
            </a:pPr>
            <a:r>
              <a:rPr lang="en-US" dirty="0"/>
              <a:t>Often discard multi-mapped reads.</a:t>
            </a:r>
          </a:p>
          <a:p>
            <a:endParaRPr lang="en-US" dirty="0"/>
          </a:p>
        </p:txBody>
      </p:sp>
    </p:spTree>
    <p:extLst>
      <p:ext uri="{BB962C8B-B14F-4D97-AF65-F5344CB8AC3E}">
        <p14:creationId xmlns:p14="http://schemas.microsoft.com/office/powerpoint/2010/main" val="1491221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Transcript quantification</a:t>
            </a:r>
            <a:endParaRPr lang="en-US" dirty="0"/>
          </a:p>
        </p:txBody>
      </p:sp>
      <p:sp>
        <p:nvSpPr>
          <p:cNvPr id="3" name="내용 개체 틀 2"/>
          <p:cNvSpPr>
            <a:spLocks noGrp="1"/>
          </p:cNvSpPr>
          <p:nvPr>
            <p:ph idx="1"/>
          </p:nvPr>
        </p:nvSpPr>
        <p:spPr/>
        <p:txBody>
          <a:bodyPr/>
          <a:lstStyle/>
          <a:p>
            <a:pPr latinLnBrk="0"/>
            <a:r>
              <a:rPr lang="en-US" dirty="0"/>
              <a:t>Raw read counts alone are not sufficient to compare expression levels among/within samples, as these values are affected by factors such as transcript length, total number of reads, and sequencing biases.</a:t>
            </a:r>
          </a:p>
          <a:p>
            <a:endParaRPr lang="en-US" dirty="0"/>
          </a:p>
          <a:p>
            <a:r>
              <a:rPr lang="en-US" dirty="0"/>
              <a:t>Some popular measures: RPKM, FPKM, RPM, TPM, TMM, …</a:t>
            </a:r>
          </a:p>
        </p:txBody>
      </p:sp>
    </p:spTree>
    <p:extLst>
      <p:ext uri="{BB962C8B-B14F-4D97-AF65-F5344CB8AC3E}">
        <p14:creationId xmlns:p14="http://schemas.microsoft.com/office/powerpoint/2010/main" val="42385691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Differential gene expression analysis</a:t>
            </a:r>
          </a:p>
        </p:txBody>
      </p:sp>
      <p:sp>
        <p:nvSpPr>
          <p:cNvPr id="3" name="내용 개체 틀 2"/>
          <p:cNvSpPr>
            <a:spLocks noGrp="1"/>
          </p:cNvSpPr>
          <p:nvPr>
            <p:ph idx="1"/>
          </p:nvPr>
        </p:nvSpPr>
        <p:spPr/>
        <p:txBody>
          <a:bodyPr>
            <a:normAutofit fontScale="92500" lnSpcReduction="10000"/>
          </a:bodyPr>
          <a:lstStyle/>
          <a:p>
            <a:pPr latinLnBrk="0">
              <a:lnSpc>
                <a:spcPct val="110000"/>
              </a:lnSpc>
            </a:pPr>
            <a:r>
              <a:rPr lang="en-US" dirty="0"/>
              <a:t>Differential expression analysis requires that gene expression values should be compared among samples by accounting for technical/biological confounding factors.</a:t>
            </a:r>
          </a:p>
          <a:p>
            <a:pPr latinLnBrk="0">
              <a:lnSpc>
                <a:spcPct val="110000"/>
              </a:lnSpc>
            </a:pPr>
            <a:endParaRPr lang="en-US" dirty="0"/>
          </a:p>
          <a:p>
            <a:pPr latinLnBrk="0">
              <a:lnSpc>
                <a:spcPct val="110000"/>
              </a:lnSpc>
            </a:pPr>
            <a:r>
              <a:rPr lang="en-US" dirty="0">
                <a:solidFill>
                  <a:srgbClr val="FF0000"/>
                </a:solidFill>
              </a:rPr>
              <a:t>Technical factors</a:t>
            </a:r>
            <a:r>
              <a:rPr lang="en-US" dirty="0"/>
              <a:t>: sequencing depth, batch effects, positional biases in coverage along the transcript, average fragment size, GC contents of genes, </a:t>
            </a:r>
            <a:r>
              <a:rPr lang="en-US" altLang="ko-KR" dirty="0"/>
              <a:t>changes in transcript length across samples </a:t>
            </a:r>
            <a:endParaRPr lang="en-US" dirty="0"/>
          </a:p>
          <a:p>
            <a:pPr latinLnBrk="0">
              <a:lnSpc>
                <a:spcPct val="110000"/>
              </a:lnSpc>
            </a:pPr>
            <a:endParaRPr lang="en-US" dirty="0"/>
          </a:p>
          <a:p>
            <a:pPr latinLnBrk="0">
              <a:lnSpc>
                <a:spcPct val="110000"/>
              </a:lnSpc>
            </a:pPr>
            <a:r>
              <a:rPr lang="en-US" dirty="0">
                <a:solidFill>
                  <a:srgbClr val="FF0000"/>
                </a:solidFill>
              </a:rPr>
              <a:t>Biological factors</a:t>
            </a:r>
            <a:r>
              <a:rPr lang="en-US" dirty="0"/>
              <a:t>: total number of transcripts </a:t>
            </a:r>
          </a:p>
        </p:txBody>
      </p:sp>
    </p:spTree>
    <p:extLst>
      <p:ext uri="{BB962C8B-B14F-4D97-AF65-F5344CB8AC3E}">
        <p14:creationId xmlns:p14="http://schemas.microsoft.com/office/powerpoint/2010/main" val="2067198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Differential gene expression analysis</a:t>
            </a:r>
            <a:endParaRPr lang="en-US" dirty="0"/>
          </a:p>
        </p:txBody>
      </p:sp>
      <p:sp>
        <p:nvSpPr>
          <p:cNvPr id="3" name="내용 개체 틀 2"/>
          <p:cNvSpPr>
            <a:spLocks noGrp="1"/>
          </p:cNvSpPr>
          <p:nvPr>
            <p:ph idx="1"/>
          </p:nvPr>
        </p:nvSpPr>
        <p:spPr/>
        <p:txBody>
          <a:bodyPr/>
          <a:lstStyle/>
          <a:p>
            <a:pPr latinLnBrk="0"/>
            <a:r>
              <a:rPr lang="en-US" dirty="0" err="1"/>
              <a:t>Diagnositc</a:t>
            </a:r>
            <a:r>
              <a:rPr lang="en-US" dirty="0"/>
              <a:t> plots to identify sources of biases in RNA-</a:t>
            </a:r>
            <a:r>
              <a:rPr lang="en-US" dirty="0" err="1"/>
              <a:t>seq</a:t>
            </a:r>
            <a:r>
              <a:rPr lang="en-US" dirty="0"/>
              <a:t> data: </a:t>
            </a:r>
            <a:r>
              <a:rPr lang="en-US" dirty="0" err="1"/>
              <a:t>NOISeq</a:t>
            </a:r>
            <a:r>
              <a:rPr lang="en-US" dirty="0"/>
              <a:t> R package</a:t>
            </a:r>
          </a:p>
          <a:p>
            <a:pPr latinLnBrk="0"/>
            <a:endParaRPr lang="en-US" dirty="0"/>
          </a:p>
          <a:p>
            <a:pPr latinLnBrk="0"/>
            <a:r>
              <a:rPr lang="en-US" dirty="0"/>
              <a:t>Batch effects correction methods: COMBAT, </a:t>
            </a:r>
            <a:r>
              <a:rPr lang="en-US" dirty="0" err="1"/>
              <a:t>ARSyN</a:t>
            </a:r>
            <a:r>
              <a:rPr lang="en-US" dirty="0"/>
              <a:t>, </a:t>
            </a:r>
            <a:r>
              <a:rPr lang="en-US" dirty="0" err="1"/>
              <a:t>RUVSeq</a:t>
            </a:r>
            <a:r>
              <a:rPr lang="en-US" dirty="0"/>
              <a:t>, </a:t>
            </a:r>
            <a:r>
              <a:rPr lang="en-US" dirty="0" err="1"/>
              <a:t>sva</a:t>
            </a:r>
            <a:endParaRPr lang="en-US" dirty="0"/>
          </a:p>
          <a:p>
            <a:pPr latinLnBrk="0"/>
            <a:endParaRPr lang="en-US" dirty="0"/>
          </a:p>
          <a:p>
            <a:pPr latinLnBrk="0"/>
            <a:r>
              <a:rPr lang="en-US" dirty="0"/>
              <a:t>DEG tools: </a:t>
            </a:r>
            <a:r>
              <a:rPr lang="en-US" dirty="0" err="1">
                <a:solidFill>
                  <a:srgbClr val="FF0000"/>
                </a:solidFill>
              </a:rPr>
              <a:t>DESeq</a:t>
            </a:r>
            <a:r>
              <a:rPr lang="en-US" dirty="0">
                <a:solidFill>
                  <a:srgbClr val="FF0000"/>
                </a:solidFill>
              </a:rPr>
              <a:t>, DESeq2, </a:t>
            </a:r>
            <a:r>
              <a:rPr lang="en-US" dirty="0" err="1">
                <a:solidFill>
                  <a:srgbClr val="FF0000"/>
                </a:solidFill>
              </a:rPr>
              <a:t>edgeR</a:t>
            </a:r>
            <a:r>
              <a:rPr lang="en-US" dirty="0">
                <a:solidFill>
                  <a:srgbClr val="FF0000"/>
                </a:solidFill>
              </a:rPr>
              <a:t>,</a:t>
            </a:r>
            <a:r>
              <a:rPr lang="en-US" dirty="0"/>
              <a:t> </a:t>
            </a:r>
            <a:r>
              <a:rPr lang="en-US" dirty="0" err="1">
                <a:solidFill>
                  <a:srgbClr val="FF0000"/>
                </a:solidFill>
              </a:rPr>
              <a:t>voom</a:t>
            </a:r>
            <a:r>
              <a:rPr lang="en-US" dirty="0">
                <a:solidFill>
                  <a:srgbClr val="FF0000"/>
                </a:solidFill>
              </a:rPr>
              <a:t> (</a:t>
            </a:r>
            <a:r>
              <a:rPr lang="en-US" dirty="0" err="1">
                <a:solidFill>
                  <a:srgbClr val="FF0000"/>
                </a:solidFill>
              </a:rPr>
              <a:t>limma</a:t>
            </a:r>
            <a:r>
              <a:rPr lang="en-US" dirty="0">
                <a:solidFill>
                  <a:srgbClr val="FF0000"/>
                </a:solidFill>
              </a:rPr>
              <a:t>)</a:t>
            </a:r>
            <a:endParaRPr lang="en-US" dirty="0"/>
          </a:p>
        </p:txBody>
      </p:sp>
    </p:spTree>
    <p:extLst>
      <p:ext uri="{BB962C8B-B14F-4D97-AF65-F5344CB8AC3E}">
        <p14:creationId xmlns:p14="http://schemas.microsoft.com/office/powerpoint/2010/main" val="3837310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Differential gene expression analysis</a:t>
            </a:r>
            <a:endParaRPr lang="en-US" dirty="0"/>
          </a:p>
        </p:txBody>
      </p:sp>
      <p:sp>
        <p:nvSpPr>
          <p:cNvPr id="3" name="내용 개체 틀 2"/>
          <p:cNvSpPr>
            <a:spLocks noGrp="1"/>
          </p:cNvSpPr>
          <p:nvPr>
            <p:ph idx="1"/>
          </p:nvPr>
        </p:nvSpPr>
        <p:spPr/>
        <p:txBody>
          <a:bodyPr/>
          <a:lstStyle/>
          <a:p>
            <a:pPr latinLnBrk="0"/>
            <a:r>
              <a:rPr lang="en-US" dirty="0"/>
              <a:t>Comparison of DEG tools:</a:t>
            </a:r>
          </a:p>
          <a:p>
            <a:pPr marL="914400" lvl="1" indent="-457200" latinLnBrk="0">
              <a:buFont typeface="+mj-lt"/>
              <a:buAutoNum type="arabicPeriod"/>
            </a:pPr>
            <a:r>
              <a:rPr lang="en-US" altLang="ko-KR" dirty="0" err="1"/>
              <a:t>voom</a:t>
            </a:r>
            <a:r>
              <a:rPr lang="en-US" altLang="ko-KR" dirty="0"/>
              <a:t> (</a:t>
            </a:r>
            <a:r>
              <a:rPr lang="en-US" altLang="ko-KR" dirty="0" err="1"/>
              <a:t>limma</a:t>
            </a:r>
            <a:r>
              <a:rPr lang="en-US" altLang="ko-KR" dirty="0"/>
              <a:t>)</a:t>
            </a:r>
            <a:r>
              <a:rPr lang="en-US" dirty="0"/>
              <a:t>, </a:t>
            </a:r>
            <a:r>
              <a:rPr lang="en-US" dirty="0" err="1"/>
              <a:t>DESeq</a:t>
            </a:r>
            <a:r>
              <a:rPr lang="en-US" dirty="0"/>
              <a:t> (1 or 2), </a:t>
            </a:r>
            <a:r>
              <a:rPr lang="en-US" dirty="0" err="1"/>
              <a:t>edgeR</a:t>
            </a:r>
            <a:r>
              <a:rPr lang="en-US" dirty="0"/>
              <a:t> have been shown to perform well under many circumstances.</a:t>
            </a:r>
          </a:p>
          <a:p>
            <a:pPr marL="914400" lvl="1" indent="-457200" latinLnBrk="0">
              <a:buFont typeface="+mj-lt"/>
              <a:buAutoNum type="arabicPeriod"/>
            </a:pPr>
            <a:r>
              <a:rPr lang="en-US" dirty="0"/>
              <a:t>They can perform multiple comparison, including different covariates or analyze time-series data</a:t>
            </a:r>
          </a:p>
          <a:p>
            <a:pPr marL="914400" lvl="1" indent="-457200" latinLnBrk="0">
              <a:buFont typeface="+mj-lt"/>
              <a:buAutoNum type="arabicPeriod"/>
            </a:pPr>
            <a:r>
              <a:rPr lang="en-US" dirty="0"/>
              <a:t>They are easy to install and use, have low computational requirements, provide a good quality of documentation and instruction.</a:t>
            </a:r>
          </a:p>
        </p:txBody>
      </p:sp>
    </p:spTree>
    <p:extLst>
      <p:ext uri="{BB962C8B-B14F-4D97-AF65-F5344CB8AC3E}">
        <p14:creationId xmlns:p14="http://schemas.microsoft.com/office/powerpoint/2010/main" val="30377458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Alternative splicing analysis</a:t>
            </a:r>
          </a:p>
        </p:txBody>
      </p:sp>
      <p:sp>
        <p:nvSpPr>
          <p:cNvPr id="3" name="내용 개체 틀 2"/>
          <p:cNvSpPr>
            <a:spLocks noGrp="1"/>
          </p:cNvSpPr>
          <p:nvPr>
            <p:ph idx="1"/>
          </p:nvPr>
        </p:nvSpPr>
        <p:spPr/>
        <p:txBody>
          <a:bodyPr>
            <a:normAutofit fontScale="92500" lnSpcReduction="20000"/>
          </a:bodyPr>
          <a:lstStyle/>
          <a:p>
            <a:pPr latinLnBrk="0">
              <a:lnSpc>
                <a:spcPct val="110000"/>
              </a:lnSpc>
            </a:pPr>
            <a:r>
              <a:rPr lang="en-US" dirty="0"/>
              <a:t>Transcript-level DE analysis can detect changes in the expression of transcript isoforms from the same gene.</a:t>
            </a:r>
          </a:p>
          <a:p>
            <a:pPr latinLnBrk="0">
              <a:lnSpc>
                <a:spcPct val="110000"/>
              </a:lnSpc>
            </a:pPr>
            <a:endParaRPr lang="en-US" dirty="0"/>
          </a:p>
          <a:p>
            <a:pPr latinLnBrk="0">
              <a:lnSpc>
                <a:spcPct val="110000"/>
              </a:lnSpc>
            </a:pPr>
            <a:r>
              <a:rPr lang="en-US" dirty="0"/>
              <a:t>Two major categories for alternative splicing-focused analysis:</a:t>
            </a:r>
          </a:p>
          <a:p>
            <a:pPr marL="914400" lvl="1" indent="-457200" latinLnBrk="0">
              <a:lnSpc>
                <a:spcPct val="110000"/>
              </a:lnSpc>
              <a:buFont typeface="+mj-lt"/>
              <a:buAutoNum type="arabicPeriod"/>
            </a:pPr>
            <a:r>
              <a:rPr lang="en-US" dirty="0"/>
              <a:t>The first approach integrates isoform expression estimation with the detection of differential expression to reveal changes in the proportion of each isoform within the total gene expression (BASIS, CuffDiff2).</a:t>
            </a:r>
          </a:p>
          <a:p>
            <a:pPr marL="914400" lvl="1" indent="-457200" latinLnBrk="0">
              <a:lnSpc>
                <a:spcPct val="110000"/>
              </a:lnSpc>
              <a:buFont typeface="+mj-lt"/>
              <a:buAutoNum type="arabicPeriod"/>
            </a:pPr>
            <a:r>
              <a:rPr lang="en-US" dirty="0"/>
              <a:t>The second approach (“exon”-based) skips the estimation of isoform expression and detects signals of alternative splicing by comparing the distributions of reads on exons and junctions of the genes between the compared samples (</a:t>
            </a:r>
            <a:r>
              <a:rPr lang="en-US" dirty="0" err="1"/>
              <a:t>DEXseq</a:t>
            </a:r>
            <a:r>
              <a:rPr lang="en-US" dirty="0"/>
              <a:t>, </a:t>
            </a:r>
            <a:r>
              <a:rPr lang="en-US" dirty="0" err="1"/>
              <a:t>DSGSeq</a:t>
            </a:r>
            <a:r>
              <a:rPr lang="en-US" dirty="0"/>
              <a:t>, </a:t>
            </a:r>
            <a:r>
              <a:rPr lang="en-US" dirty="0" err="1"/>
              <a:t>rMATS</a:t>
            </a:r>
            <a:r>
              <a:rPr lang="en-US" dirty="0"/>
              <a:t>). </a:t>
            </a:r>
          </a:p>
          <a:p>
            <a:pPr lvl="1"/>
            <a:endParaRPr lang="en-US" dirty="0"/>
          </a:p>
          <a:p>
            <a:endParaRPr lang="en-US" dirty="0"/>
          </a:p>
          <a:p>
            <a:endParaRPr lang="en-US" dirty="0"/>
          </a:p>
        </p:txBody>
      </p:sp>
    </p:spTree>
    <p:extLst>
      <p:ext uri="{BB962C8B-B14F-4D97-AF65-F5344CB8AC3E}">
        <p14:creationId xmlns:p14="http://schemas.microsoft.com/office/powerpoint/2010/main" val="22750446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Functional profiling</a:t>
            </a:r>
          </a:p>
        </p:txBody>
      </p:sp>
      <p:sp>
        <p:nvSpPr>
          <p:cNvPr id="3" name="내용 개체 틀 2"/>
          <p:cNvSpPr>
            <a:spLocks noGrp="1"/>
          </p:cNvSpPr>
          <p:nvPr>
            <p:ph idx="1"/>
          </p:nvPr>
        </p:nvSpPr>
        <p:spPr/>
        <p:txBody>
          <a:bodyPr/>
          <a:lstStyle/>
          <a:p>
            <a:pPr latinLnBrk="0"/>
            <a:r>
              <a:rPr lang="en-US" dirty="0"/>
              <a:t>The last step in a standard </a:t>
            </a:r>
            <a:r>
              <a:rPr lang="en-US" dirty="0" err="1"/>
              <a:t>transcriptomics</a:t>
            </a:r>
            <a:r>
              <a:rPr lang="en-US" dirty="0"/>
              <a:t> study is the characterization of the molecular functions or pathways in which differentially expressed genes are involved.</a:t>
            </a:r>
          </a:p>
          <a:p>
            <a:pPr latinLnBrk="0"/>
            <a:endParaRPr lang="en-US" dirty="0"/>
          </a:p>
          <a:p>
            <a:pPr latinLnBrk="0"/>
            <a:r>
              <a:rPr lang="en-US" dirty="0"/>
              <a:t>The two main approaches:</a:t>
            </a:r>
          </a:p>
          <a:p>
            <a:pPr lvl="1" latinLnBrk="0"/>
            <a:r>
              <a:rPr lang="en-US" dirty="0"/>
              <a:t>Comparing a list of DEGs against the background list of genes</a:t>
            </a:r>
          </a:p>
          <a:p>
            <a:pPr lvl="1" latinLnBrk="0"/>
            <a:r>
              <a:rPr lang="en-US" dirty="0"/>
              <a:t>Gene set enrichment analysis which is based on ranking the transcriptome according to a measurement of differential expression.</a:t>
            </a:r>
          </a:p>
          <a:p>
            <a:endParaRPr lang="en-US" dirty="0"/>
          </a:p>
          <a:p>
            <a:endParaRPr lang="en-US" dirty="0"/>
          </a:p>
        </p:txBody>
      </p:sp>
    </p:spTree>
    <p:extLst>
      <p:ext uri="{BB962C8B-B14F-4D97-AF65-F5344CB8AC3E}">
        <p14:creationId xmlns:p14="http://schemas.microsoft.com/office/powerpoint/2010/main" val="14386165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Functional profiling</a:t>
            </a:r>
            <a:endParaRPr lang="en-US" dirty="0"/>
          </a:p>
        </p:txBody>
      </p:sp>
      <p:sp>
        <p:nvSpPr>
          <p:cNvPr id="3" name="내용 개체 틀 2"/>
          <p:cNvSpPr>
            <a:spLocks noGrp="1"/>
          </p:cNvSpPr>
          <p:nvPr>
            <p:ph idx="1"/>
          </p:nvPr>
        </p:nvSpPr>
        <p:spPr/>
        <p:txBody>
          <a:bodyPr/>
          <a:lstStyle/>
          <a:p>
            <a:pPr latinLnBrk="0">
              <a:lnSpc>
                <a:spcPct val="100000"/>
              </a:lnSpc>
            </a:pPr>
            <a:r>
              <a:rPr lang="en-US" dirty="0"/>
              <a:t>Functional analysis requires the availability of sufficient functional annotation data for the transcriptome under study. Resources such as Gene Ontology, Bioconductor, DAVID contain annotation data for most model species.</a:t>
            </a:r>
          </a:p>
          <a:p>
            <a:pPr latinLnBrk="0">
              <a:lnSpc>
                <a:spcPct val="100000"/>
              </a:lnSpc>
            </a:pPr>
            <a:endParaRPr lang="en-US" dirty="0"/>
          </a:p>
          <a:p>
            <a:pPr latinLnBrk="0">
              <a:lnSpc>
                <a:spcPct val="100000"/>
              </a:lnSpc>
            </a:pPr>
            <a:r>
              <a:rPr lang="en-US" dirty="0"/>
              <a:t>Novel transcripts would lack at least some functional information and therefore annotation is necessary for functional profiling of those results.</a:t>
            </a:r>
          </a:p>
          <a:p>
            <a:endParaRPr lang="en-US" dirty="0"/>
          </a:p>
          <a:p>
            <a:endParaRPr lang="en-US" dirty="0"/>
          </a:p>
        </p:txBody>
      </p:sp>
    </p:spTree>
    <p:extLst>
      <p:ext uri="{BB962C8B-B14F-4D97-AF65-F5344CB8AC3E}">
        <p14:creationId xmlns:p14="http://schemas.microsoft.com/office/powerpoint/2010/main" val="35398917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Functional profiling</a:t>
            </a:r>
            <a:endParaRPr lang="en-US" dirty="0"/>
          </a:p>
        </p:txBody>
      </p:sp>
      <p:sp>
        <p:nvSpPr>
          <p:cNvPr id="3" name="내용 개체 틀 2"/>
          <p:cNvSpPr>
            <a:spLocks noGrp="1"/>
          </p:cNvSpPr>
          <p:nvPr>
            <p:ph idx="1"/>
          </p:nvPr>
        </p:nvSpPr>
        <p:spPr/>
        <p:txBody>
          <a:bodyPr/>
          <a:lstStyle/>
          <a:p>
            <a:pPr latinLnBrk="0">
              <a:lnSpc>
                <a:spcPct val="100000"/>
              </a:lnSpc>
            </a:pPr>
            <a:r>
              <a:rPr lang="en-US" dirty="0"/>
              <a:t>Protein-coding transcripts can </a:t>
            </a:r>
            <a:r>
              <a:rPr lang="en-US"/>
              <a:t>be functionally </a:t>
            </a:r>
            <a:r>
              <a:rPr lang="en-US" dirty="0"/>
              <a:t>annotated using </a:t>
            </a:r>
            <a:r>
              <a:rPr lang="en-US" dirty="0" err="1"/>
              <a:t>orthology</a:t>
            </a:r>
            <a:r>
              <a:rPr lang="en-US" dirty="0"/>
              <a:t> by searching for similar sequences in protein databases (e.g. </a:t>
            </a:r>
            <a:r>
              <a:rPr lang="en-US" dirty="0" err="1"/>
              <a:t>SwissProt</a:t>
            </a:r>
            <a:r>
              <a:rPr lang="en-US" dirty="0"/>
              <a:t>, </a:t>
            </a:r>
            <a:r>
              <a:rPr lang="en-US" dirty="0" err="1"/>
              <a:t>Pfam</a:t>
            </a:r>
            <a:r>
              <a:rPr lang="en-US" dirty="0"/>
              <a:t>, </a:t>
            </a:r>
            <a:r>
              <a:rPr lang="en-US" dirty="0" err="1"/>
              <a:t>InterPro</a:t>
            </a:r>
            <a:r>
              <a:rPr lang="en-US" dirty="0"/>
              <a:t>). </a:t>
            </a:r>
          </a:p>
          <a:p>
            <a:pPr latinLnBrk="0">
              <a:lnSpc>
                <a:spcPct val="100000"/>
              </a:lnSpc>
            </a:pPr>
            <a:endParaRPr lang="en-US" dirty="0"/>
          </a:p>
          <a:p>
            <a:pPr latinLnBrk="0">
              <a:lnSpc>
                <a:spcPct val="100000"/>
              </a:lnSpc>
            </a:pPr>
            <a:r>
              <a:rPr lang="en-US" dirty="0"/>
              <a:t>Blast2GO allows massive annotation of complete transcriptome datasets against a variety of databases and controlled vocabularies (50-80% of the transcripts reconstructed from RNA-</a:t>
            </a:r>
            <a:r>
              <a:rPr lang="en-US" dirty="0" err="1"/>
              <a:t>seq</a:t>
            </a:r>
            <a:r>
              <a:rPr lang="en-US" dirty="0"/>
              <a:t> can be functionally annotated).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818433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Functional profiling</a:t>
            </a:r>
            <a:endParaRPr lang="en-US" dirty="0"/>
          </a:p>
        </p:txBody>
      </p:sp>
      <p:sp>
        <p:nvSpPr>
          <p:cNvPr id="3" name="내용 개체 틀 2"/>
          <p:cNvSpPr>
            <a:spLocks noGrp="1"/>
          </p:cNvSpPr>
          <p:nvPr>
            <p:ph idx="1"/>
          </p:nvPr>
        </p:nvSpPr>
        <p:spPr/>
        <p:txBody>
          <a:bodyPr>
            <a:normAutofit fontScale="92500" lnSpcReduction="20000"/>
          </a:bodyPr>
          <a:lstStyle/>
          <a:p>
            <a:pPr latinLnBrk="0">
              <a:lnSpc>
                <a:spcPct val="110000"/>
              </a:lnSpc>
            </a:pPr>
            <a:r>
              <a:rPr lang="en-US" dirty="0"/>
              <a:t>The functional annotation of long non-coding RNAs is more challenging as their conservation is often less pronounced than that of protein-coding genes.</a:t>
            </a:r>
          </a:p>
          <a:p>
            <a:pPr latinLnBrk="0">
              <a:lnSpc>
                <a:spcPct val="110000"/>
              </a:lnSpc>
            </a:pPr>
            <a:endParaRPr lang="en-US" dirty="0"/>
          </a:p>
          <a:p>
            <a:pPr latinLnBrk="0">
              <a:lnSpc>
                <a:spcPct val="110000"/>
              </a:lnSpc>
            </a:pPr>
            <a:r>
              <a:rPr lang="en-US" dirty="0"/>
              <a:t>Specialized databases:</a:t>
            </a:r>
          </a:p>
          <a:p>
            <a:pPr lvl="1" latinLnBrk="0">
              <a:lnSpc>
                <a:spcPct val="110000"/>
              </a:lnSpc>
            </a:pPr>
            <a:r>
              <a:rPr lang="en-US" dirty="0" err="1"/>
              <a:t>Rfam</a:t>
            </a:r>
            <a:r>
              <a:rPr lang="en-US" dirty="0"/>
              <a:t>: contains most well-characterized RNA families (e.g. ribosomal or transfer RNAs)</a:t>
            </a:r>
          </a:p>
          <a:p>
            <a:pPr lvl="1" latinLnBrk="0">
              <a:lnSpc>
                <a:spcPct val="110000"/>
              </a:lnSpc>
            </a:pPr>
            <a:r>
              <a:rPr lang="en-US" dirty="0" err="1"/>
              <a:t>mirBase</a:t>
            </a:r>
            <a:r>
              <a:rPr lang="en-US" dirty="0"/>
              <a:t> or Miranda: specialized in miRNAs</a:t>
            </a:r>
          </a:p>
          <a:p>
            <a:pPr lvl="1" latinLnBrk="0">
              <a:lnSpc>
                <a:spcPct val="110000"/>
              </a:lnSpc>
            </a:pPr>
            <a:r>
              <a:rPr lang="en-US" dirty="0"/>
              <a:t>These resources can be used for similarity-based annotation of short non-coding RNAs, but no standard functional annotation procedures are available yet for long non-coding RNAs.</a:t>
            </a:r>
          </a:p>
        </p:txBody>
      </p:sp>
    </p:spTree>
    <p:extLst>
      <p:ext uri="{BB962C8B-B14F-4D97-AF65-F5344CB8AC3E}">
        <p14:creationId xmlns:p14="http://schemas.microsoft.com/office/powerpoint/2010/main" val="25952629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Advanced analysis</a:t>
            </a:r>
          </a:p>
        </p:txBody>
      </p:sp>
      <p:pic>
        <p:nvPicPr>
          <p:cNvPr id="4" name="내용 개체 틀 3"/>
          <p:cNvPicPr>
            <a:picLocks noGrp="1" noChangeAspect="1"/>
          </p:cNvPicPr>
          <p:nvPr>
            <p:ph idx="1"/>
          </p:nvPr>
        </p:nvPicPr>
        <p:blipFill>
          <a:blip r:embed="rId2"/>
          <a:stretch>
            <a:fillRect/>
          </a:stretch>
        </p:blipFill>
        <p:spPr>
          <a:xfrm>
            <a:off x="838200" y="3139634"/>
            <a:ext cx="10515600" cy="1723320"/>
          </a:xfrm>
          <a:prstGeom prst="rect">
            <a:avLst/>
          </a:prstGeom>
        </p:spPr>
      </p:pic>
    </p:spTree>
    <p:extLst>
      <p:ext uri="{BB962C8B-B14F-4D97-AF65-F5344CB8AC3E}">
        <p14:creationId xmlns:p14="http://schemas.microsoft.com/office/powerpoint/2010/main" val="11114791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Visualization</a:t>
            </a:r>
          </a:p>
        </p:txBody>
      </p:sp>
      <p:sp>
        <p:nvSpPr>
          <p:cNvPr id="3" name="내용 개체 틀 2"/>
          <p:cNvSpPr>
            <a:spLocks noGrp="1"/>
          </p:cNvSpPr>
          <p:nvPr>
            <p:ph idx="1"/>
          </p:nvPr>
        </p:nvSpPr>
        <p:spPr/>
        <p:txBody>
          <a:bodyPr/>
          <a:lstStyle/>
          <a:p>
            <a:pPr latinLnBrk="0"/>
            <a:r>
              <a:rPr lang="en-US" dirty="0"/>
              <a:t>Visualization of RNA-</a:t>
            </a:r>
            <a:r>
              <a:rPr lang="en-US" dirty="0" err="1"/>
              <a:t>seq</a:t>
            </a:r>
            <a:r>
              <a:rPr lang="en-US" dirty="0"/>
              <a:t> data can be done at the level of reads, using genome browsers such as the UCSC genome browser, Integrative Genomics Viewer (IGV).</a:t>
            </a:r>
          </a:p>
        </p:txBody>
      </p:sp>
      <p:pic>
        <p:nvPicPr>
          <p:cNvPr id="4" name="그림 3"/>
          <p:cNvPicPr>
            <a:picLocks noChangeAspect="1"/>
          </p:cNvPicPr>
          <p:nvPr/>
        </p:nvPicPr>
        <p:blipFill>
          <a:blip r:embed="rId2"/>
          <a:stretch>
            <a:fillRect/>
          </a:stretch>
        </p:blipFill>
        <p:spPr>
          <a:xfrm>
            <a:off x="3229232" y="3175687"/>
            <a:ext cx="5747823" cy="3537122"/>
          </a:xfrm>
          <a:prstGeom prst="rect">
            <a:avLst/>
          </a:prstGeom>
        </p:spPr>
      </p:pic>
    </p:spTree>
    <p:extLst>
      <p:ext uri="{BB962C8B-B14F-4D97-AF65-F5344CB8AC3E}">
        <p14:creationId xmlns:p14="http://schemas.microsoft.com/office/powerpoint/2010/main" val="23784303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Visualization</a:t>
            </a:r>
            <a:endParaRPr lang="en-US" dirty="0"/>
          </a:p>
        </p:txBody>
      </p:sp>
      <p:sp>
        <p:nvSpPr>
          <p:cNvPr id="3" name="내용 개체 틀 2"/>
          <p:cNvSpPr>
            <a:spLocks noGrp="1"/>
          </p:cNvSpPr>
          <p:nvPr>
            <p:ph idx="1"/>
          </p:nvPr>
        </p:nvSpPr>
        <p:spPr/>
        <p:txBody>
          <a:bodyPr/>
          <a:lstStyle/>
          <a:p>
            <a:pPr latinLnBrk="0"/>
            <a:r>
              <a:rPr lang="en-US" dirty="0"/>
              <a:t>Some software packages have been developed to visualize differentially spliced exons (e.g. Sashimi plots, </a:t>
            </a:r>
            <a:r>
              <a:rPr lang="en-US" dirty="0" err="1"/>
              <a:t>SplicePlot</a:t>
            </a:r>
            <a:r>
              <a:rPr lang="en-US" dirty="0"/>
              <a:t>, </a:t>
            </a:r>
            <a:r>
              <a:rPr lang="en-US" dirty="0" err="1"/>
              <a:t>SpliceSeq</a:t>
            </a:r>
            <a:r>
              <a:rPr lang="en-US" dirty="0"/>
              <a:t>, </a:t>
            </a:r>
            <a:r>
              <a:rPr lang="en-US" dirty="0" err="1"/>
              <a:t>SplicingViewer</a:t>
            </a:r>
            <a:r>
              <a:rPr lang="en-US" dirty="0"/>
              <a:t>). </a:t>
            </a:r>
          </a:p>
        </p:txBody>
      </p:sp>
      <p:pic>
        <p:nvPicPr>
          <p:cNvPr id="4" name="그림 3"/>
          <p:cNvPicPr>
            <a:picLocks noChangeAspect="1"/>
          </p:cNvPicPr>
          <p:nvPr/>
        </p:nvPicPr>
        <p:blipFill>
          <a:blip r:embed="rId2"/>
          <a:stretch>
            <a:fillRect/>
          </a:stretch>
        </p:blipFill>
        <p:spPr>
          <a:xfrm>
            <a:off x="3146171" y="3225113"/>
            <a:ext cx="5472409" cy="3455901"/>
          </a:xfrm>
          <a:prstGeom prst="rect">
            <a:avLst/>
          </a:prstGeom>
        </p:spPr>
      </p:pic>
    </p:spTree>
    <p:extLst>
      <p:ext uri="{BB962C8B-B14F-4D97-AF65-F5344CB8AC3E}">
        <p14:creationId xmlns:p14="http://schemas.microsoft.com/office/powerpoint/2010/main" val="23455877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Visualization</a:t>
            </a:r>
            <a:endParaRPr lang="en-US" dirty="0"/>
          </a:p>
        </p:txBody>
      </p:sp>
      <p:sp>
        <p:nvSpPr>
          <p:cNvPr id="3" name="내용 개체 틀 2"/>
          <p:cNvSpPr>
            <a:spLocks noGrp="1"/>
          </p:cNvSpPr>
          <p:nvPr>
            <p:ph idx="1"/>
          </p:nvPr>
        </p:nvSpPr>
        <p:spPr/>
        <p:txBody>
          <a:bodyPr/>
          <a:lstStyle/>
          <a:p>
            <a:pPr latinLnBrk="0"/>
            <a:r>
              <a:rPr lang="en-US" dirty="0"/>
              <a:t>We can also visualize the RNA-</a:t>
            </a:r>
            <a:r>
              <a:rPr lang="en-US" dirty="0" err="1"/>
              <a:t>seq</a:t>
            </a:r>
            <a:r>
              <a:rPr lang="en-US" dirty="0"/>
              <a:t> data for individual samples in 2D or 3D plots.</a:t>
            </a:r>
          </a:p>
        </p:txBody>
      </p:sp>
      <p:pic>
        <p:nvPicPr>
          <p:cNvPr id="4" name="그림 3"/>
          <p:cNvPicPr>
            <a:picLocks noChangeAspect="1"/>
          </p:cNvPicPr>
          <p:nvPr/>
        </p:nvPicPr>
        <p:blipFill>
          <a:blip r:embed="rId2"/>
          <a:stretch>
            <a:fillRect/>
          </a:stretch>
        </p:blipFill>
        <p:spPr>
          <a:xfrm>
            <a:off x="3738562" y="2749249"/>
            <a:ext cx="4714875" cy="2867025"/>
          </a:xfrm>
          <a:prstGeom prst="rect">
            <a:avLst/>
          </a:prstGeom>
        </p:spPr>
      </p:pic>
    </p:spTree>
    <p:extLst>
      <p:ext uri="{BB962C8B-B14F-4D97-AF65-F5344CB8AC3E}">
        <p14:creationId xmlns:p14="http://schemas.microsoft.com/office/powerpoint/2010/main" val="36730921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Visualization</a:t>
            </a:r>
            <a:endParaRPr lang="en-US" dirty="0"/>
          </a:p>
        </p:txBody>
      </p:sp>
      <p:sp>
        <p:nvSpPr>
          <p:cNvPr id="3" name="내용 개체 틀 2"/>
          <p:cNvSpPr>
            <a:spLocks noGrp="1"/>
          </p:cNvSpPr>
          <p:nvPr>
            <p:ph idx="1"/>
          </p:nvPr>
        </p:nvSpPr>
        <p:spPr/>
        <p:txBody>
          <a:bodyPr/>
          <a:lstStyle/>
          <a:p>
            <a:pPr latinLnBrk="0"/>
            <a:r>
              <a:rPr lang="en-US" dirty="0"/>
              <a:t>Existing tools are of great value for exploring results for individual genes of biological interest to asses whether particular analyses’ results can withstand detailed scrutiny or to reveal potential complications caused by artifacts (e.g. 3’ biases).</a:t>
            </a:r>
          </a:p>
          <a:p>
            <a:pPr latinLnBrk="0"/>
            <a:endParaRPr lang="en-US" dirty="0"/>
          </a:p>
          <a:p>
            <a:pPr latinLnBrk="0"/>
            <a:r>
              <a:rPr lang="en-US" dirty="0"/>
              <a:t>You should visualize changes in read coverage for genes that are important or interesting on the basis of their analysis results to evaluate the robustness of their conclusions.</a:t>
            </a:r>
          </a:p>
        </p:txBody>
      </p:sp>
    </p:spTree>
    <p:extLst>
      <p:ext uri="{BB962C8B-B14F-4D97-AF65-F5344CB8AC3E}">
        <p14:creationId xmlns:p14="http://schemas.microsoft.com/office/powerpoint/2010/main" val="41110205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Gene fusion discovery</a:t>
            </a:r>
          </a:p>
        </p:txBody>
      </p:sp>
      <p:sp>
        <p:nvSpPr>
          <p:cNvPr id="3" name="내용 개체 틀 2"/>
          <p:cNvSpPr>
            <a:spLocks noGrp="1"/>
          </p:cNvSpPr>
          <p:nvPr>
            <p:ph idx="1"/>
          </p:nvPr>
        </p:nvSpPr>
        <p:spPr/>
        <p:txBody>
          <a:bodyPr>
            <a:normAutofit fontScale="92500" lnSpcReduction="10000"/>
          </a:bodyPr>
          <a:lstStyle/>
          <a:p>
            <a:pPr latinLnBrk="0">
              <a:lnSpc>
                <a:spcPct val="110000"/>
              </a:lnSpc>
            </a:pPr>
            <a:r>
              <a:rPr lang="en-US" dirty="0"/>
              <a:t>The discovery of fused genes that can arise from chromosomal rearrangements is analogous to novel isoform discovery, with the added challenge of a much larger search space.</a:t>
            </a:r>
          </a:p>
          <a:p>
            <a:pPr latinLnBrk="0">
              <a:lnSpc>
                <a:spcPct val="110000"/>
              </a:lnSpc>
            </a:pPr>
            <a:endParaRPr lang="en-US" dirty="0"/>
          </a:p>
          <a:p>
            <a:pPr latinLnBrk="0">
              <a:lnSpc>
                <a:spcPct val="110000"/>
              </a:lnSpc>
            </a:pPr>
            <a:r>
              <a:rPr lang="en-US" dirty="0"/>
              <a:t>Artifacts result from </a:t>
            </a:r>
            <a:r>
              <a:rPr lang="en-US" dirty="0">
                <a:solidFill>
                  <a:srgbClr val="FF0000"/>
                </a:solidFill>
              </a:rPr>
              <a:t>misalignment of reads</a:t>
            </a:r>
            <a:r>
              <a:rPr lang="en-US" dirty="0"/>
              <a:t> due to polymorphisms, homology, and sequencing errors.</a:t>
            </a:r>
          </a:p>
          <a:p>
            <a:pPr latinLnBrk="0">
              <a:lnSpc>
                <a:spcPct val="110000"/>
              </a:lnSpc>
            </a:pPr>
            <a:endParaRPr lang="en-US" dirty="0"/>
          </a:p>
          <a:p>
            <a:pPr latinLnBrk="0">
              <a:lnSpc>
                <a:spcPct val="110000"/>
              </a:lnSpc>
            </a:pPr>
            <a:r>
              <a:rPr lang="en-US" dirty="0"/>
              <a:t>We need a post-processing step using heuristic filters to eliminate artifacts.</a:t>
            </a:r>
          </a:p>
        </p:txBody>
      </p:sp>
    </p:spTree>
    <p:extLst>
      <p:ext uri="{BB962C8B-B14F-4D97-AF65-F5344CB8AC3E}">
        <p14:creationId xmlns:p14="http://schemas.microsoft.com/office/powerpoint/2010/main" val="35621093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Gene fusion discovery</a:t>
            </a:r>
            <a:endParaRPr lang="en-US" dirty="0"/>
          </a:p>
        </p:txBody>
      </p:sp>
      <p:sp>
        <p:nvSpPr>
          <p:cNvPr id="3" name="내용 개체 틀 2"/>
          <p:cNvSpPr>
            <a:spLocks noGrp="1"/>
          </p:cNvSpPr>
          <p:nvPr>
            <p:ph idx="1"/>
          </p:nvPr>
        </p:nvSpPr>
        <p:spPr/>
        <p:txBody>
          <a:bodyPr/>
          <a:lstStyle/>
          <a:p>
            <a:pPr latinLnBrk="0"/>
            <a:r>
              <a:rPr lang="en-US" dirty="0"/>
              <a:t>Some filters:</a:t>
            </a:r>
          </a:p>
          <a:p>
            <a:pPr lvl="1" latinLnBrk="0"/>
            <a:r>
              <a:rPr lang="en-US" dirty="0"/>
              <a:t>Filtering highly polymorphic genes (e.g. Human leukocyte antigen (HLA) genes)  and pairs of homologous genes</a:t>
            </a:r>
          </a:p>
          <a:p>
            <a:pPr lvl="1" latinLnBrk="0"/>
            <a:r>
              <a:rPr lang="en-US" dirty="0"/>
              <a:t>Filtering highly expressed genes that are unlikely to be involved in gene fusions (e.g. ribosomal RNA)</a:t>
            </a:r>
          </a:p>
          <a:p>
            <a:pPr lvl="1" latinLnBrk="0"/>
            <a:r>
              <a:rPr lang="en-US" dirty="0"/>
              <a:t>A low ratio of chimeric to wild-type reads in the vicinity of the fusion boundary may indicate spurious </a:t>
            </a:r>
            <a:r>
              <a:rPr lang="en-US" dirty="0" err="1"/>
              <a:t>mis</a:t>
            </a:r>
            <a:r>
              <a:rPr lang="en-US" dirty="0"/>
              <a:t>-mapping of reads from  highly expressed genes.</a:t>
            </a:r>
          </a:p>
          <a:p>
            <a:pPr marL="457200" lvl="1" indent="0">
              <a:buNone/>
            </a:pPr>
            <a:endParaRPr lang="en-US" dirty="0"/>
          </a:p>
        </p:txBody>
      </p:sp>
    </p:spTree>
    <p:extLst>
      <p:ext uri="{BB962C8B-B14F-4D97-AF65-F5344CB8AC3E}">
        <p14:creationId xmlns:p14="http://schemas.microsoft.com/office/powerpoint/2010/main" val="42179984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Gene fusion discovery</a:t>
            </a:r>
            <a:endParaRPr lang="en-US" dirty="0"/>
          </a:p>
        </p:txBody>
      </p:sp>
      <p:sp>
        <p:nvSpPr>
          <p:cNvPr id="3" name="내용 개체 틀 2"/>
          <p:cNvSpPr>
            <a:spLocks noGrp="1"/>
          </p:cNvSpPr>
          <p:nvPr>
            <p:ph idx="1"/>
          </p:nvPr>
        </p:nvSpPr>
        <p:spPr/>
        <p:txBody>
          <a:bodyPr/>
          <a:lstStyle/>
          <a:p>
            <a:pPr latinLnBrk="0"/>
            <a:r>
              <a:rPr lang="en-US" dirty="0"/>
              <a:t>The next step is the prioritization of gene fusions that have biological impact over more expected forms of genomic variation.</a:t>
            </a:r>
          </a:p>
          <a:p>
            <a:pPr latinLnBrk="0"/>
            <a:endParaRPr lang="en-US" dirty="0"/>
          </a:p>
          <a:p>
            <a:pPr latinLnBrk="0"/>
            <a:r>
              <a:rPr lang="en-US" dirty="0"/>
              <a:t>Examples of expected variation include:</a:t>
            </a:r>
          </a:p>
          <a:p>
            <a:pPr marL="914400" lvl="1" indent="-457200" latinLnBrk="0">
              <a:buFont typeface="+mj-lt"/>
              <a:buAutoNum type="arabicPeriod"/>
            </a:pPr>
            <a:r>
              <a:rPr lang="en-US" dirty="0"/>
              <a:t>Immunoglobulin (IG) rearrangements in tumor samples infiltrated by immune cells,</a:t>
            </a:r>
          </a:p>
          <a:p>
            <a:pPr marL="914400" lvl="1" indent="-457200" latinLnBrk="0">
              <a:buFont typeface="+mj-lt"/>
              <a:buAutoNum type="arabicPeriod"/>
            </a:pPr>
            <a:r>
              <a:rPr lang="en-US" dirty="0"/>
              <a:t>Transiently expressed transposons</a:t>
            </a:r>
          </a:p>
          <a:p>
            <a:pPr marL="914400" lvl="1" indent="-457200" latinLnBrk="0">
              <a:buFont typeface="+mj-lt"/>
              <a:buAutoNum type="arabicPeriod"/>
            </a:pPr>
            <a:r>
              <a:rPr lang="en-US" dirty="0"/>
              <a:t>Read-through chimeras produced by co-transcription of adjacent genes.</a:t>
            </a:r>
          </a:p>
          <a:p>
            <a:pPr marL="914400" lvl="1" indent="-457200">
              <a:buFont typeface="+mj-lt"/>
              <a:buAutoNum type="arabicPeriod"/>
            </a:pPr>
            <a:endParaRPr lang="en-US" dirty="0"/>
          </a:p>
          <a:p>
            <a:pPr marL="457200" lvl="1" indent="0">
              <a:buNone/>
            </a:pPr>
            <a:endParaRPr lang="en-US" dirty="0"/>
          </a:p>
        </p:txBody>
      </p:sp>
    </p:spTree>
    <p:extLst>
      <p:ext uri="{BB962C8B-B14F-4D97-AF65-F5344CB8AC3E}">
        <p14:creationId xmlns:p14="http://schemas.microsoft.com/office/powerpoint/2010/main" val="20829302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Gene fusion discovery</a:t>
            </a:r>
            <a:endParaRPr lang="en-US" dirty="0"/>
          </a:p>
        </p:txBody>
      </p:sp>
      <p:sp>
        <p:nvSpPr>
          <p:cNvPr id="3" name="내용 개체 틀 2"/>
          <p:cNvSpPr>
            <a:spLocks noGrp="1"/>
          </p:cNvSpPr>
          <p:nvPr>
            <p:ph idx="1"/>
          </p:nvPr>
        </p:nvSpPr>
        <p:spPr/>
        <p:txBody>
          <a:bodyPr>
            <a:normAutofit fontScale="92500" lnSpcReduction="10000"/>
          </a:bodyPr>
          <a:lstStyle/>
          <a:p>
            <a:pPr latinLnBrk="0">
              <a:lnSpc>
                <a:spcPct val="120000"/>
              </a:lnSpc>
            </a:pPr>
            <a:r>
              <a:rPr lang="en-US" dirty="0"/>
              <a:t>Fusions should be filtered by their presence in a set of control datasets. When control datasets are not available, artifacts can be identified by their presence in a large number of unrelated datasets, after excluding the possibility that they represent true recurrent fusions.</a:t>
            </a:r>
          </a:p>
          <a:p>
            <a:pPr latinLnBrk="0">
              <a:lnSpc>
                <a:spcPct val="120000"/>
              </a:lnSpc>
            </a:pPr>
            <a:endParaRPr lang="en-US" dirty="0"/>
          </a:p>
          <a:p>
            <a:pPr latinLnBrk="0">
              <a:lnSpc>
                <a:spcPct val="120000"/>
              </a:lnSpc>
            </a:pPr>
            <a:r>
              <a:rPr lang="en-US" dirty="0"/>
              <a:t>For most known fusions, the genomic breakpoint is located in an intron of each gene and the fusion boundary coincides with a splice site within each gene.</a:t>
            </a:r>
          </a:p>
        </p:txBody>
      </p:sp>
    </p:spTree>
    <p:extLst>
      <p:ext uri="{BB962C8B-B14F-4D97-AF65-F5344CB8AC3E}">
        <p14:creationId xmlns:p14="http://schemas.microsoft.com/office/powerpoint/2010/main" val="41750312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Small RNAs</a:t>
            </a:r>
          </a:p>
        </p:txBody>
      </p:sp>
      <p:sp>
        <p:nvSpPr>
          <p:cNvPr id="3" name="내용 개체 틀 2"/>
          <p:cNvSpPr>
            <a:spLocks noGrp="1"/>
          </p:cNvSpPr>
          <p:nvPr>
            <p:ph idx="1"/>
          </p:nvPr>
        </p:nvSpPr>
        <p:spPr/>
        <p:txBody>
          <a:bodyPr>
            <a:normAutofit fontScale="85000" lnSpcReduction="10000"/>
          </a:bodyPr>
          <a:lstStyle/>
          <a:p>
            <a:pPr latinLnBrk="0">
              <a:lnSpc>
                <a:spcPct val="110000"/>
              </a:lnSpc>
            </a:pPr>
            <a:r>
              <a:rPr lang="en-US" dirty="0"/>
              <a:t>Small RNAs (</a:t>
            </a:r>
            <a:r>
              <a:rPr lang="en-US" dirty="0" err="1"/>
              <a:t>sRNAs</a:t>
            </a:r>
            <a:r>
              <a:rPr lang="en-US" dirty="0"/>
              <a:t>) are usually 18-34 nucleotides in length, and they include miRNAs, short-interfering RNAs (siRNAs), PIWI-interacting RNAs (</a:t>
            </a:r>
            <a:r>
              <a:rPr lang="en-US" dirty="0" err="1"/>
              <a:t>piRNAs</a:t>
            </a:r>
            <a:r>
              <a:rPr lang="en-US" dirty="0"/>
              <a:t>), and other classes of regulatory molecules. </a:t>
            </a:r>
          </a:p>
          <a:p>
            <a:pPr latinLnBrk="0">
              <a:lnSpc>
                <a:spcPct val="110000"/>
              </a:lnSpc>
            </a:pPr>
            <a:endParaRPr lang="en-US" dirty="0"/>
          </a:p>
          <a:p>
            <a:pPr latinLnBrk="0">
              <a:lnSpc>
                <a:spcPct val="110000"/>
              </a:lnSpc>
            </a:pPr>
            <a:r>
              <a:rPr lang="en-US" dirty="0"/>
              <a:t>sRNA-</a:t>
            </a:r>
            <a:r>
              <a:rPr lang="en-US" dirty="0" err="1"/>
              <a:t>seq</a:t>
            </a:r>
            <a:r>
              <a:rPr lang="en-US" dirty="0"/>
              <a:t> libraries are rarely sequenced as deeply as regular RNA-</a:t>
            </a:r>
            <a:r>
              <a:rPr lang="en-US" dirty="0" err="1"/>
              <a:t>seq</a:t>
            </a:r>
            <a:r>
              <a:rPr lang="en-US" dirty="0"/>
              <a:t> libraries because of a lack of complexity, with a typical range of 2-10 million reads.</a:t>
            </a:r>
          </a:p>
          <a:p>
            <a:pPr latinLnBrk="0">
              <a:lnSpc>
                <a:spcPct val="110000"/>
              </a:lnSpc>
            </a:pPr>
            <a:endParaRPr lang="en-US" dirty="0"/>
          </a:p>
          <a:p>
            <a:pPr latinLnBrk="0">
              <a:lnSpc>
                <a:spcPct val="110000"/>
              </a:lnSpc>
            </a:pPr>
            <a:r>
              <a:rPr lang="en-US" dirty="0"/>
              <a:t>Bioinformatics analysis of sRNA-</a:t>
            </a:r>
            <a:r>
              <a:rPr lang="en-US" dirty="0" err="1"/>
              <a:t>seq</a:t>
            </a:r>
            <a:r>
              <a:rPr lang="en-US" dirty="0"/>
              <a:t> data differs from standard RNA-</a:t>
            </a:r>
            <a:r>
              <a:rPr lang="en-US" dirty="0" err="1"/>
              <a:t>seq</a:t>
            </a:r>
            <a:r>
              <a:rPr lang="en-US" dirty="0"/>
              <a:t> protocols.</a:t>
            </a:r>
          </a:p>
        </p:txBody>
      </p:sp>
    </p:spTree>
    <p:extLst>
      <p:ext uri="{BB962C8B-B14F-4D97-AF65-F5344CB8AC3E}">
        <p14:creationId xmlns:p14="http://schemas.microsoft.com/office/powerpoint/2010/main" val="33649921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Small RNAs</a:t>
            </a:r>
            <a:endParaRPr lang="en-US" dirty="0"/>
          </a:p>
        </p:txBody>
      </p:sp>
      <p:sp>
        <p:nvSpPr>
          <p:cNvPr id="3" name="내용 개체 틀 2"/>
          <p:cNvSpPr>
            <a:spLocks noGrp="1"/>
          </p:cNvSpPr>
          <p:nvPr>
            <p:ph idx="1"/>
          </p:nvPr>
        </p:nvSpPr>
        <p:spPr/>
        <p:txBody>
          <a:bodyPr/>
          <a:lstStyle/>
          <a:p>
            <a:pPr latinLnBrk="0"/>
            <a:r>
              <a:rPr lang="en-US" dirty="0"/>
              <a:t>Ligated adaptor sequences are first trimmed and the resulting read-length distribution is computed.</a:t>
            </a:r>
          </a:p>
          <a:p>
            <a:pPr latinLnBrk="0"/>
            <a:endParaRPr lang="en-US" dirty="0"/>
          </a:p>
          <a:p>
            <a:pPr latinLnBrk="0"/>
            <a:r>
              <a:rPr lang="en-US" dirty="0"/>
              <a:t>In animals, there are usually peaks for 22 and 23 nucleotides, whereas in plants there are peaks for 21 and 24 nucleotide redundant reads.</a:t>
            </a:r>
          </a:p>
          <a:p>
            <a:pPr latinLnBrk="0"/>
            <a:endParaRPr lang="en-US" dirty="0"/>
          </a:p>
          <a:p>
            <a:pPr latinLnBrk="0"/>
            <a:r>
              <a:rPr lang="en-US" dirty="0"/>
              <a:t>The threshold value depends on the application, and in case of miRNAs is usually in the range of 19-25 nucleotides.</a:t>
            </a:r>
          </a:p>
        </p:txBody>
      </p:sp>
    </p:spTree>
    <p:extLst>
      <p:ext uri="{BB962C8B-B14F-4D97-AF65-F5344CB8AC3E}">
        <p14:creationId xmlns:p14="http://schemas.microsoft.com/office/powerpoint/2010/main" val="5925057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Small RNAs</a:t>
            </a:r>
            <a:endParaRPr lang="en-US" dirty="0"/>
          </a:p>
        </p:txBody>
      </p:sp>
      <p:sp>
        <p:nvSpPr>
          <p:cNvPr id="3" name="내용 개체 틀 2"/>
          <p:cNvSpPr>
            <a:spLocks noGrp="1"/>
          </p:cNvSpPr>
          <p:nvPr>
            <p:ph idx="1"/>
          </p:nvPr>
        </p:nvSpPr>
        <p:spPr/>
        <p:txBody>
          <a:bodyPr>
            <a:normAutofit fontScale="77500" lnSpcReduction="20000"/>
          </a:bodyPr>
          <a:lstStyle/>
          <a:p>
            <a:pPr latinLnBrk="0">
              <a:lnSpc>
                <a:spcPct val="120000"/>
              </a:lnSpc>
            </a:pPr>
            <a:r>
              <a:rPr lang="en-US" dirty="0"/>
              <a:t>sRNA reads must then be aligned to a reference genome or transcriptome sequences using standard tools (Bowtie2, STAR, BWA). </a:t>
            </a:r>
          </a:p>
          <a:p>
            <a:pPr latinLnBrk="0">
              <a:lnSpc>
                <a:spcPct val="120000"/>
              </a:lnSpc>
            </a:pPr>
            <a:endParaRPr lang="en-US" dirty="0"/>
          </a:p>
          <a:p>
            <a:pPr latinLnBrk="0">
              <a:lnSpc>
                <a:spcPct val="120000"/>
              </a:lnSpc>
            </a:pPr>
            <a:r>
              <a:rPr lang="en-US" dirty="0"/>
              <a:t>The mapping itself may be performed with or without mismatches, the latter being used more commonly.</a:t>
            </a:r>
          </a:p>
          <a:p>
            <a:pPr latinLnBrk="0">
              <a:lnSpc>
                <a:spcPct val="120000"/>
              </a:lnSpc>
            </a:pPr>
            <a:endParaRPr lang="en-US" dirty="0"/>
          </a:p>
          <a:p>
            <a:pPr latinLnBrk="0">
              <a:lnSpc>
                <a:spcPct val="120000"/>
              </a:lnSpc>
            </a:pPr>
            <a:r>
              <a:rPr lang="en-US" dirty="0"/>
              <a:t>Reads that map beyond a predetermined set number of locations may be removed as putatively originating from repetitive elements.</a:t>
            </a:r>
          </a:p>
          <a:p>
            <a:pPr latinLnBrk="0">
              <a:lnSpc>
                <a:spcPct val="120000"/>
              </a:lnSpc>
            </a:pPr>
            <a:endParaRPr lang="en-US" dirty="0"/>
          </a:p>
          <a:p>
            <a:pPr latinLnBrk="0">
              <a:lnSpc>
                <a:spcPct val="120000"/>
              </a:lnSpc>
            </a:pPr>
            <a:r>
              <a:rPr lang="en-US" dirty="0"/>
              <a:t>sRNA reads are then simply counted to obtain expression values.</a:t>
            </a:r>
          </a:p>
        </p:txBody>
      </p:sp>
    </p:spTree>
    <p:extLst>
      <p:ext uri="{BB962C8B-B14F-4D97-AF65-F5344CB8AC3E}">
        <p14:creationId xmlns:p14="http://schemas.microsoft.com/office/powerpoint/2010/main" val="35122515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Small RNAs</a:t>
            </a:r>
            <a:endParaRPr lang="en-US" dirty="0"/>
          </a:p>
        </p:txBody>
      </p:sp>
      <p:sp>
        <p:nvSpPr>
          <p:cNvPr id="3" name="내용 개체 틀 2"/>
          <p:cNvSpPr>
            <a:spLocks noGrp="1"/>
          </p:cNvSpPr>
          <p:nvPr>
            <p:ph idx="1"/>
          </p:nvPr>
        </p:nvSpPr>
        <p:spPr/>
        <p:txBody>
          <a:bodyPr/>
          <a:lstStyle/>
          <a:p>
            <a:pPr latinLnBrk="0">
              <a:lnSpc>
                <a:spcPct val="100000"/>
              </a:lnSpc>
            </a:pPr>
            <a:r>
              <a:rPr lang="en-US" dirty="0"/>
              <a:t>You should also verify that sRNA reads are not significantly contaminated by degraded mRNA, for example, by checking whether a miRNA library shows unexpected read coverage over the body of highly expressed genes (e.g. GAPDH or ACTB).</a:t>
            </a:r>
          </a:p>
          <a:p>
            <a:pPr latinLnBrk="0">
              <a:lnSpc>
                <a:spcPct val="100000"/>
              </a:lnSpc>
            </a:pPr>
            <a:endParaRPr lang="en-US" dirty="0"/>
          </a:p>
          <a:p>
            <a:pPr latinLnBrk="0">
              <a:lnSpc>
                <a:spcPct val="100000"/>
              </a:lnSpc>
            </a:pPr>
            <a:r>
              <a:rPr lang="en-US" dirty="0"/>
              <a:t>Further analysis steps include comparison with known </a:t>
            </a:r>
            <a:r>
              <a:rPr lang="en-US" dirty="0" err="1"/>
              <a:t>sRNAs</a:t>
            </a:r>
            <a:r>
              <a:rPr lang="en-US" dirty="0"/>
              <a:t> and de novo identification of </a:t>
            </a:r>
            <a:r>
              <a:rPr lang="en-US" dirty="0" err="1"/>
              <a:t>sRNAs</a:t>
            </a:r>
            <a:r>
              <a:rPr lang="en-US" dirty="0"/>
              <a:t> (</a:t>
            </a:r>
            <a:r>
              <a:rPr lang="en-US" dirty="0" err="1"/>
              <a:t>miRDeep</a:t>
            </a:r>
            <a:r>
              <a:rPr lang="en-US" dirty="0"/>
              <a:t>, </a:t>
            </a:r>
            <a:r>
              <a:rPr lang="en-US" dirty="0" err="1"/>
              <a:t>miRDeep</a:t>
            </a:r>
            <a:r>
              <a:rPr lang="en-US" dirty="0"/>
              <a:t>-P, </a:t>
            </a:r>
            <a:r>
              <a:rPr lang="en-US" dirty="0" err="1"/>
              <a:t>miRTools</a:t>
            </a:r>
            <a:r>
              <a:rPr lang="en-US" dirty="0"/>
              <a:t> 2.0, </a:t>
            </a:r>
            <a:r>
              <a:rPr lang="en-US" dirty="0" err="1"/>
              <a:t>ShortStack</a:t>
            </a:r>
            <a:r>
              <a:rPr lang="en-US" dirty="0"/>
              <a:t>, </a:t>
            </a:r>
            <a:r>
              <a:rPr lang="en-US" dirty="0" err="1"/>
              <a:t>iMir</a:t>
            </a:r>
            <a:r>
              <a:rPr lang="en-US" dirty="0"/>
              <a:t>). </a:t>
            </a:r>
          </a:p>
          <a:p>
            <a:pPr marL="0" indent="0">
              <a:buNone/>
            </a:pPr>
            <a:endParaRPr lang="en-US" dirty="0"/>
          </a:p>
        </p:txBody>
      </p:sp>
    </p:spTree>
    <p:extLst>
      <p:ext uri="{BB962C8B-B14F-4D97-AF65-F5344CB8AC3E}">
        <p14:creationId xmlns:p14="http://schemas.microsoft.com/office/powerpoint/2010/main" val="3742285252"/>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3475</TotalTime>
  <Words>2929</Words>
  <Application>Microsoft Office PowerPoint</Application>
  <PresentationFormat>와이드스크린</PresentationFormat>
  <Paragraphs>290</Paragraphs>
  <Slides>57</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57</vt:i4>
      </vt:variant>
    </vt:vector>
  </HeadingPairs>
  <TitlesOfParts>
    <vt:vector size="60" baseType="lpstr">
      <vt:lpstr>맑은 고딕</vt:lpstr>
      <vt:lpstr>Arial</vt:lpstr>
      <vt:lpstr>Office 테마</vt:lpstr>
      <vt:lpstr>Lecture 11</vt:lpstr>
      <vt:lpstr>Reading assignments</vt:lpstr>
      <vt:lpstr>Overview</vt:lpstr>
      <vt:lpstr>A roadmap of RNA-seq data analysis</vt:lpstr>
      <vt:lpstr>Pre-analysis</vt:lpstr>
      <vt:lpstr>Experimental design</vt:lpstr>
      <vt:lpstr>Experimental design</vt:lpstr>
      <vt:lpstr>RNA-extraction protocol</vt:lpstr>
      <vt:lpstr>RNA-extraction protocol</vt:lpstr>
      <vt:lpstr>Single-end (SE) vs Paired-end (PE) </vt:lpstr>
      <vt:lpstr>Sequencing depth (or library size)</vt:lpstr>
      <vt:lpstr>Sequencing depth (or library size)</vt:lpstr>
      <vt:lpstr>Sequencing depth (or library size)</vt:lpstr>
      <vt:lpstr>Sequencing depth (or library size)</vt:lpstr>
      <vt:lpstr>Number of replicates</vt:lpstr>
      <vt:lpstr>Number of replicates</vt:lpstr>
      <vt:lpstr>Planning of sequencing experiments</vt:lpstr>
      <vt:lpstr>Planning of sequencing experiments</vt:lpstr>
      <vt:lpstr>Planning of sequencing experiments</vt:lpstr>
      <vt:lpstr>QC</vt:lpstr>
      <vt:lpstr>QC</vt:lpstr>
      <vt:lpstr>QC: Raw reads</vt:lpstr>
      <vt:lpstr>QC: Raw reads</vt:lpstr>
      <vt:lpstr>QC: Read alignment</vt:lpstr>
      <vt:lpstr>QC: Read alignment</vt:lpstr>
      <vt:lpstr>QC: Read count</vt:lpstr>
      <vt:lpstr>QC: Reproducibility</vt:lpstr>
      <vt:lpstr>Core-analysis</vt:lpstr>
      <vt:lpstr>Alignment</vt:lpstr>
      <vt:lpstr>Alignment</vt:lpstr>
      <vt:lpstr>Alignment</vt:lpstr>
      <vt:lpstr>Alignment</vt:lpstr>
      <vt:lpstr>Alignment</vt:lpstr>
      <vt:lpstr>Transcript discovery</vt:lpstr>
      <vt:lpstr>Transcript quantification</vt:lpstr>
      <vt:lpstr>Transcript quantification</vt:lpstr>
      <vt:lpstr>Differential gene expression analysis</vt:lpstr>
      <vt:lpstr>Differential gene expression analysis</vt:lpstr>
      <vt:lpstr>Differential gene expression analysis</vt:lpstr>
      <vt:lpstr>Alternative splicing analysis</vt:lpstr>
      <vt:lpstr>Functional profiling</vt:lpstr>
      <vt:lpstr>Functional profiling</vt:lpstr>
      <vt:lpstr>Functional profiling</vt:lpstr>
      <vt:lpstr>Functional profiling</vt:lpstr>
      <vt:lpstr>Advanced analysis</vt:lpstr>
      <vt:lpstr>Visualization</vt:lpstr>
      <vt:lpstr>Visualization</vt:lpstr>
      <vt:lpstr>Visualization</vt:lpstr>
      <vt:lpstr>Visualization</vt:lpstr>
      <vt:lpstr>Gene fusion discovery</vt:lpstr>
      <vt:lpstr>Gene fusion discovery</vt:lpstr>
      <vt:lpstr>Gene fusion discovery</vt:lpstr>
      <vt:lpstr>Gene fusion discovery</vt:lpstr>
      <vt:lpstr>Small RNAs</vt:lpstr>
      <vt:lpstr>Small RNAs</vt:lpstr>
      <vt:lpstr>Small RNAs</vt:lpstr>
      <vt:lpstr>Small RNAs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RNA-seq</dc:title>
  <dc:creator>Jong Kyoung Kim</dc:creator>
  <cp:lastModifiedBy>한승엽(생명과학과)</cp:lastModifiedBy>
  <cp:revision>63</cp:revision>
  <cp:lastPrinted>2022-11-09T00:09:44Z</cp:lastPrinted>
  <dcterms:created xsi:type="dcterms:W3CDTF">2017-04-20T11:17:16Z</dcterms:created>
  <dcterms:modified xsi:type="dcterms:W3CDTF">2022-11-09T02:13:40Z</dcterms:modified>
</cp:coreProperties>
</file>