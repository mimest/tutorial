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306" r:id="rId2"/>
    <p:sldId id="307" r:id="rId3"/>
    <p:sldId id="308" r:id="rId4"/>
    <p:sldId id="309" r:id="rId5"/>
    <p:sldId id="310" r:id="rId6"/>
    <p:sldId id="311" r:id="rId7"/>
    <p:sldId id="312" r:id="rId8"/>
    <p:sldId id="314" r:id="rId9"/>
    <p:sldId id="315" r:id="rId10"/>
    <p:sldId id="316" r:id="rId11"/>
    <p:sldId id="286" r:id="rId12"/>
    <p:sldId id="265" r:id="rId13"/>
    <p:sldId id="266" r:id="rId14"/>
    <p:sldId id="268" r:id="rId15"/>
    <p:sldId id="270" r:id="rId16"/>
    <p:sldId id="271" r:id="rId17"/>
    <p:sldId id="272" r:id="rId18"/>
    <p:sldId id="273" r:id="rId19"/>
    <p:sldId id="274" r:id="rId20"/>
    <p:sldId id="320" r:id="rId21"/>
    <p:sldId id="275" r:id="rId22"/>
    <p:sldId id="276" r:id="rId23"/>
    <p:sldId id="277" r:id="rId24"/>
    <p:sldId id="278" r:id="rId25"/>
    <p:sldId id="284" r:id="rId26"/>
    <p:sldId id="282" r:id="rId27"/>
    <p:sldId id="283" r:id="rId28"/>
    <p:sldId id="279" r:id="rId29"/>
    <p:sldId id="285" r:id="rId30"/>
    <p:sldId id="280" r:id="rId3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6391" autoAdjust="0"/>
  </p:normalViewPr>
  <p:slideViewPr>
    <p:cSldViewPr snapToGrid="0">
      <p:cViewPr varScale="1">
        <p:scale>
          <a:sx n="111" d="100"/>
          <a:sy n="111" d="100"/>
        </p:scale>
        <p:origin x="42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3A1686-3D87-467F-BFB6-BB3E376AB634}" type="datetimeFigureOut">
              <a:rPr lang="en-US" smtClean="0"/>
              <a:t>11/6/2022</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FF79E3-F893-4D5F-B086-DCACCDF25750}" type="slidenum">
              <a:rPr lang="en-US" smtClean="0"/>
              <a:t>‹#›</a:t>
            </a:fld>
            <a:endParaRPr lang="en-US"/>
          </a:p>
        </p:txBody>
      </p:sp>
    </p:spTree>
    <p:extLst>
      <p:ext uri="{BB962C8B-B14F-4D97-AF65-F5344CB8AC3E}">
        <p14:creationId xmlns:p14="http://schemas.microsoft.com/office/powerpoint/2010/main" val="182246175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p:cNvSpPr>
            <a:spLocks noGrp="1"/>
          </p:cNvSpPr>
          <p:nvPr>
            <p:ph type="dt" sz="half" idx="10"/>
          </p:nvPr>
        </p:nvSpPr>
        <p:spPr/>
        <p:txBody>
          <a:bodyPr/>
          <a:lstStyle/>
          <a:p>
            <a:fld id="{AFCA8131-5935-4594-AB46-93EDA80C5D2F}" type="datetimeFigureOut">
              <a:rPr lang="en-US" smtClean="0"/>
              <a:t>11/6/2022</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A79DE2FC-D87B-4400-84B8-EE9D66D3673B}" type="slidenum">
              <a:rPr lang="en-US" smtClean="0"/>
              <a:t>‹#›</a:t>
            </a:fld>
            <a:endParaRPr lang="en-US"/>
          </a:p>
        </p:txBody>
      </p:sp>
    </p:spTree>
    <p:extLst>
      <p:ext uri="{BB962C8B-B14F-4D97-AF65-F5344CB8AC3E}">
        <p14:creationId xmlns:p14="http://schemas.microsoft.com/office/powerpoint/2010/main" val="3273516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US"/>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p:cNvSpPr>
            <a:spLocks noGrp="1"/>
          </p:cNvSpPr>
          <p:nvPr>
            <p:ph type="dt" sz="half" idx="10"/>
          </p:nvPr>
        </p:nvSpPr>
        <p:spPr/>
        <p:txBody>
          <a:bodyPr/>
          <a:lstStyle/>
          <a:p>
            <a:fld id="{AFCA8131-5935-4594-AB46-93EDA80C5D2F}" type="datetimeFigureOut">
              <a:rPr lang="en-US" smtClean="0"/>
              <a:t>11/6/2022</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A79DE2FC-D87B-4400-84B8-EE9D66D3673B}" type="slidenum">
              <a:rPr lang="en-US" smtClean="0"/>
              <a:t>‹#›</a:t>
            </a:fld>
            <a:endParaRPr lang="en-US"/>
          </a:p>
        </p:txBody>
      </p:sp>
    </p:spTree>
    <p:extLst>
      <p:ext uri="{BB962C8B-B14F-4D97-AF65-F5344CB8AC3E}">
        <p14:creationId xmlns:p14="http://schemas.microsoft.com/office/powerpoint/2010/main" val="516675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AFCA8131-5935-4594-AB46-93EDA80C5D2F}" type="datetimeFigureOut">
              <a:rPr lang="en-US" smtClean="0"/>
              <a:t>11/6/2022</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A79DE2FC-D87B-4400-84B8-EE9D66D3673B}" type="slidenum">
              <a:rPr lang="en-US" smtClean="0"/>
              <a:t>‹#›</a:t>
            </a:fld>
            <a:endParaRPr lang="en-US"/>
          </a:p>
        </p:txBody>
      </p:sp>
    </p:spTree>
    <p:extLst>
      <p:ext uri="{BB962C8B-B14F-4D97-AF65-F5344CB8AC3E}">
        <p14:creationId xmlns:p14="http://schemas.microsoft.com/office/powerpoint/2010/main" val="2358489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US"/>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날짜 개체 틀 4"/>
          <p:cNvSpPr>
            <a:spLocks noGrp="1"/>
          </p:cNvSpPr>
          <p:nvPr>
            <p:ph type="dt" sz="half" idx="10"/>
          </p:nvPr>
        </p:nvSpPr>
        <p:spPr/>
        <p:txBody>
          <a:bodyPr/>
          <a:lstStyle/>
          <a:p>
            <a:fld id="{AFCA8131-5935-4594-AB46-93EDA80C5D2F}" type="datetimeFigureOut">
              <a:rPr lang="en-US" smtClean="0"/>
              <a:t>11/6/2022</a:t>
            </a:fld>
            <a:endParaRPr lang="en-US"/>
          </a:p>
        </p:txBody>
      </p:sp>
      <p:sp>
        <p:nvSpPr>
          <p:cNvPr id="6" name="바닥글 개체 틀 5"/>
          <p:cNvSpPr>
            <a:spLocks noGrp="1"/>
          </p:cNvSpPr>
          <p:nvPr>
            <p:ph type="ftr" sz="quarter" idx="11"/>
          </p:nvPr>
        </p:nvSpPr>
        <p:spPr/>
        <p:txBody>
          <a:bodyPr/>
          <a:lstStyle/>
          <a:p>
            <a:endParaRPr lang="en-US"/>
          </a:p>
        </p:txBody>
      </p:sp>
      <p:sp>
        <p:nvSpPr>
          <p:cNvPr id="7" name="슬라이드 번호 개체 틀 6"/>
          <p:cNvSpPr>
            <a:spLocks noGrp="1"/>
          </p:cNvSpPr>
          <p:nvPr>
            <p:ph type="sldNum" sz="quarter" idx="12"/>
          </p:nvPr>
        </p:nvSpPr>
        <p:spPr/>
        <p:txBody>
          <a:bodyPr/>
          <a:lstStyle/>
          <a:p>
            <a:fld id="{A79DE2FC-D87B-4400-84B8-EE9D66D3673B}" type="slidenum">
              <a:rPr lang="en-US" smtClean="0"/>
              <a:t>‹#›</a:t>
            </a:fld>
            <a:endParaRPr lang="en-US"/>
          </a:p>
        </p:txBody>
      </p:sp>
    </p:spTree>
    <p:extLst>
      <p:ext uri="{BB962C8B-B14F-4D97-AF65-F5344CB8AC3E}">
        <p14:creationId xmlns:p14="http://schemas.microsoft.com/office/powerpoint/2010/main" val="2738853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날짜 개체 틀 6"/>
          <p:cNvSpPr>
            <a:spLocks noGrp="1"/>
          </p:cNvSpPr>
          <p:nvPr>
            <p:ph type="dt" sz="half" idx="10"/>
          </p:nvPr>
        </p:nvSpPr>
        <p:spPr/>
        <p:txBody>
          <a:bodyPr/>
          <a:lstStyle/>
          <a:p>
            <a:fld id="{AFCA8131-5935-4594-AB46-93EDA80C5D2F}" type="datetimeFigureOut">
              <a:rPr lang="en-US" smtClean="0"/>
              <a:t>11/6/2022</a:t>
            </a:fld>
            <a:endParaRPr lang="en-US"/>
          </a:p>
        </p:txBody>
      </p:sp>
      <p:sp>
        <p:nvSpPr>
          <p:cNvPr id="8" name="바닥글 개체 틀 7"/>
          <p:cNvSpPr>
            <a:spLocks noGrp="1"/>
          </p:cNvSpPr>
          <p:nvPr>
            <p:ph type="ftr" sz="quarter" idx="11"/>
          </p:nvPr>
        </p:nvSpPr>
        <p:spPr/>
        <p:txBody>
          <a:bodyPr/>
          <a:lstStyle/>
          <a:p>
            <a:endParaRPr lang="en-US"/>
          </a:p>
        </p:txBody>
      </p:sp>
      <p:sp>
        <p:nvSpPr>
          <p:cNvPr id="9" name="슬라이드 번호 개체 틀 8"/>
          <p:cNvSpPr>
            <a:spLocks noGrp="1"/>
          </p:cNvSpPr>
          <p:nvPr>
            <p:ph type="sldNum" sz="quarter" idx="12"/>
          </p:nvPr>
        </p:nvSpPr>
        <p:spPr/>
        <p:txBody>
          <a:bodyPr/>
          <a:lstStyle/>
          <a:p>
            <a:fld id="{A79DE2FC-D87B-4400-84B8-EE9D66D3673B}" type="slidenum">
              <a:rPr lang="en-US" smtClean="0"/>
              <a:t>‹#›</a:t>
            </a:fld>
            <a:endParaRPr lang="en-US"/>
          </a:p>
        </p:txBody>
      </p:sp>
    </p:spTree>
    <p:extLst>
      <p:ext uri="{BB962C8B-B14F-4D97-AF65-F5344CB8AC3E}">
        <p14:creationId xmlns:p14="http://schemas.microsoft.com/office/powerpoint/2010/main" val="1177413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US"/>
          </a:p>
        </p:txBody>
      </p:sp>
      <p:sp>
        <p:nvSpPr>
          <p:cNvPr id="3" name="날짜 개체 틀 2"/>
          <p:cNvSpPr>
            <a:spLocks noGrp="1"/>
          </p:cNvSpPr>
          <p:nvPr>
            <p:ph type="dt" sz="half" idx="10"/>
          </p:nvPr>
        </p:nvSpPr>
        <p:spPr/>
        <p:txBody>
          <a:bodyPr/>
          <a:lstStyle/>
          <a:p>
            <a:fld id="{AFCA8131-5935-4594-AB46-93EDA80C5D2F}" type="datetimeFigureOut">
              <a:rPr lang="en-US" smtClean="0"/>
              <a:t>11/6/2022</a:t>
            </a:fld>
            <a:endParaRPr lang="en-US"/>
          </a:p>
        </p:txBody>
      </p:sp>
      <p:sp>
        <p:nvSpPr>
          <p:cNvPr id="4" name="바닥글 개체 틀 3"/>
          <p:cNvSpPr>
            <a:spLocks noGrp="1"/>
          </p:cNvSpPr>
          <p:nvPr>
            <p:ph type="ftr" sz="quarter" idx="11"/>
          </p:nvPr>
        </p:nvSpPr>
        <p:spPr/>
        <p:txBody>
          <a:bodyPr/>
          <a:lstStyle/>
          <a:p>
            <a:endParaRPr lang="en-US"/>
          </a:p>
        </p:txBody>
      </p:sp>
      <p:sp>
        <p:nvSpPr>
          <p:cNvPr id="5" name="슬라이드 번호 개체 틀 4"/>
          <p:cNvSpPr>
            <a:spLocks noGrp="1"/>
          </p:cNvSpPr>
          <p:nvPr>
            <p:ph type="sldNum" sz="quarter" idx="12"/>
          </p:nvPr>
        </p:nvSpPr>
        <p:spPr/>
        <p:txBody>
          <a:bodyPr/>
          <a:lstStyle/>
          <a:p>
            <a:fld id="{A79DE2FC-D87B-4400-84B8-EE9D66D3673B}" type="slidenum">
              <a:rPr lang="en-US" smtClean="0"/>
              <a:t>‹#›</a:t>
            </a:fld>
            <a:endParaRPr lang="en-US"/>
          </a:p>
        </p:txBody>
      </p:sp>
    </p:spTree>
    <p:extLst>
      <p:ext uri="{BB962C8B-B14F-4D97-AF65-F5344CB8AC3E}">
        <p14:creationId xmlns:p14="http://schemas.microsoft.com/office/powerpoint/2010/main" val="2817499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AFCA8131-5935-4594-AB46-93EDA80C5D2F}" type="datetimeFigureOut">
              <a:rPr lang="en-US" smtClean="0"/>
              <a:t>11/6/2022</a:t>
            </a:fld>
            <a:endParaRPr lang="en-US"/>
          </a:p>
        </p:txBody>
      </p:sp>
      <p:sp>
        <p:nvSpPr>
          <p:cNvPr id="3" name="바닥글 개체 틀 2"/>
          <p:cNvSpPr>
            <a:spLocks noGrp="1"/>
          </p:cNvSpPr>
          <p:nvPr>
            <p:ph type="ftr" sz="quarter" idx="11"/>
          </p:nvPr>
        </p:nvSpPr>
        <p:spPr/>
        <p:txBody>
          <a:bodyPr/>
          <a:lstStyle/>
          <a:p>
            <a:endParaRPr lang="en-US"/>
          </a:p>
        </p:txBody>
      </p:sp>
      <p:sp>
        <p:nvSpPr>
          <p:cNvPr id="4" name="슬라이드 번호 개체 틀 3"/>
          <p:cNvSpPr>
            <a:spLocks noGrp="1"/>
          </p:cNvSpPr>
          <p:nvPr>
            <p:ph type="sldNum" sz="quarter" idx="12"/>
          </p:nvPr>
        </p:nvSpPr>
        <p:spPr/>
        <p:txBody>
          <a:bodyPr/>
          <a:lstStyle/>
          <a:p>
            <a:fld id="{A79DE2FC-D87B-4400-84B8-EE9D66D3673B}" type="slidenum">
              <a:rPr lang="en-US" smtClean="0"/>
              <a:t>‹#›</a:t>
            </a:fld>
            <a:endParaRPr lang="en-US"/>
          </a:p>
        </p:txBody>
      </p:sp>
    </p:spTree>
    <p:extLst>
      <p:ext uri="{BB962C8B-B14F-4D97-AF65-F5344CB8AC3E}">
        <p14:creationId xmlns:p14="http://schemas.microsoft.com/office/powerpoint/2010/main" val="832544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AFCA8131-5935-4594-AB46-93EDA80C5D2F}" type="datetimeFigureOut">
              <a:rPr lang="en-US" smtClean="0"/>
              <a:t>11/6/2022</a:t>
            </a:fld>
            <a:endParaRPr lang="en-US"/>
          </a:p>
        </p:txBody>
      </p:sp>
      <p:sp>
        <p:nvSpPr>
          <p:cNvPr id="6" name="바닥글 개체 틀 5"/>
          <p:cNvSpPr>
            <a:spLocks noGrp="1"/>
          </p:cNvSpPr>
          <p:nvPr>
            <p:ph type="ftr" sz="quarter" idx="11"/>
          </p:nvPr>
        </p:nvSpPr>
        <p:spPr/>
        <p:txBody>
          <a:bodyPr/>
          <a:lstStyle/>
          <a:p>
            <a:endParaRPr lang="en-US"/>
          </a:p>
        </p:txBody>
      </p:sp>
      <p:sp>
        <p:nvSpPr>
          <p:cNvPr id="7" name="슬라이드 번호 개체 틀 6"/>
          <p:cNvSpPr>
            <a:spLocks noGrp="1"/>
          </p:cNvSpPr>
          <p:nvPr>
            <p:ph type="sldNum" sz="quarter" idx="12"/>
          </p:nvPr>
        </p:nvSpPr>
        <p:spPr/>
        <p:txBody>
          <a:bodyPr/>
          <a:lstStyle/>
          <a:p>
            <a:fld id="{A79DE2FC-D87B-4400-84B8-EE9D66D3673B}" type="slidenum">
              <a:rPr lang="en-US" smtClean="0"/>
              <a:t>‹#›</a:t>
            </a:fld>
            <a:endParaRPr lang="en-US"/>
          </a:p>
        </p:txBody>
      </p:sp>
    </p:spTree>
    <p:extLst>
      <p:ext uri="{BB962C8B-B14F-4D97-AF65-F5344CB8AC3E}">
        <p14:creationId xmlns:p14="http://schemas.microsoft.com/office/powerpoint/2010/main" val="534022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AFCA8131-5935-4594-AB46-93EDA80C5D2F}" type="datetimeFigureOut">
              <a:rPr lang="en-US" smtClean="0"/>
              <a:t>11/6/2022</a:t>
            </a:fld>
            <a:endParaRPr lang="en-US"/>
          </a:p>
        </p:txBody>
      </p:sp>
      <p:sp>
        <p:nvSpPr>
          <p:cNvPr id="6" name="바닥글 개체 틀 5"/>
          <p:cNvSpPr>
            <a:spLocks noGrp="1"/>
          </p:cNvSpPr>
          <p:nvPr>
            <p:ph type="ftr" sz="quarter" idx="11"/>
          </p:nvPr>
        </p:nvSpPr>
        <p:spPr/>
        <p:txBody>
          <a:bodyPr/>
          <a:lstStyle/>
          <a:p>
            <a:endParaRPr lang="en-US"/>
          </a:p>
        </p:txBody>
      </p:sp>
      <p:sp>
        <p:nvSpPr>
          <p:cNvPr id="7" name="슬라이드 번호 개체 틀 6"/>
          <p:cNvSpPr>
            <a:spLocks noGrp="1"/>
          </p:cNvSpPr>
          <p:nvPr>
            <p:ph type="sldNum" sz="quarter" idx="12"/>
          </p:nvPr>
        </p:nvSpPr>
        <p:spPr/>
        <p:txBody>
          <a:bodyPr/>
          <a:lstStyle/>
          <a:p>
            <a:fld id="{A79DE2FC-D87B-4400-84B8-EE9D66D3673B}" type="slidenum">
              <a:rPr lang="en-US" smtClean="0"/>
              <a:t>‹#›</a:t>
            </a:fld>
            <a:endParaRPr lang="en-US"/>
          </a:p>
        </p:txBody>
      </p:sp>
    </p:spTree>
    <p:extLst>
      <p:ext uri="{BB962C8B-B14F-4D97-AF65-F5344CB8AC3E}">
        <p14:creationId xmlns:p14="http://schemas.microsoft.com/office/powerpoint/2010/main" val="3486891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US"/>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p:cNvSpPr>
            <a:spLocks noGrp="1"/>
          </p:cNvSpPr>
          <p:nvPr>
            <p:ph type="dt" sz="half" idx="10"/>
          </p:nvPr>
        </p:nvSpPr>
        <p:spPr/>
        <p:txBody>
          <a:bodyPr/>
          <a:lstStyle/>
          <a:p>
            <a:fld id="{AFCA8131-5935-4594-AB46-93EDA80C5D2F}" type="datetimeFigureOut">
              <a:rPr lang="en-US" smtClean="0"/>
              <a:t>11/6/2022</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A79DE2FC-D87B-4400-84B8-EE9D66D3673B}" type="slidenum">
              <a:rPr lang="en-US" smtClean="0"/>
              <a:t>‹#›</a:t>
            </a:fld>
            <a:endParaRPr lang="en-US"/>
          </a:p>
        </p:txBody>
      </p:sp>
    </p:spTree>
    <p:extLst>
      <p:ext uri="{BB962C8B-B14F-4D97-AF65-F5344CB8AC3E}">
        <p14:creationId xmlns:p14="http://schemas.microsoft.com/office/powerpoint/2010/main" val="986270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p:cNvSpPr>
            <a:spLocks noGrp="1"/>
          </p:cNvSpPr>
          <p:nvPr>
            <p:ph type="dt" sz="half" idx="10"/>
          </p:nvPr>
        </p:nvSpPr>
        <p:spPr/>
        <p:txBody>
          <a:bodyPr/>
          <a:lstStyle/>
          <a:p>
            <a:fld id="{AFCA8131-5935-4594-AB46-93EDA80C5D2F}" type="datetimeFigureOut">
              <a:rPr lang="en-US" smtClean="0"/>
              <a:t>11/6/2022</a:t>
            </a:fld>
            <a:endParaRPr lang="en-US"/>
          </a:p>
        </p:txBody>
      </p:sp>
      <p:sp>
        <p:nvSpPr>
          <p:cNvPr id="5" name="바닥글 개체 틀 4"/>
          <p:cNvSpPr>
            <a:spLocks noGrp="1"/>
          </p:cNvSpPr>
          <p:nvPr>
            <p:ph type="ftr" sz="quarter" idx="11"/>
          </p:nvPr>
        </p:nvSpPr>
        <p:spPr/>
        <p:txBody>
          <a:bodyPr/>
          <a:lstStyle/>
          <a:p>
            <a:endParaRPr lang="en-US"/>
          </a:p>
        </p:txBody>
      </p:sp>
      <p:sp>
        <p:nvSpPr>
          <p:cNvPr id="6" name="슬라이드 번호 개체 틀 5"/>
          <p:cNvSpPr>
            <a:spLocks noGrp="1"/>
          </p:cNvSpPr>
          <p:nvPr>
            <p:ph type="sldNum" sz="quarter" idx="12"/>
          </p:nvPr>
        </p:nvSpPr>
        <p:spPr/>
        <p:txBody>
          <a:bodyPr/>
          <a:lstStyle/>
          <a:p>
            <a:fld id="{A79DE2FC-D87B-4400-84B8-EE9D66D3673B}" type="slidenum">
              <a:rPr lang="en-US" smtClean="0"/>
              <a:t>‹#›</a:t>
            </a:fld>
            <a:endParaRPr lang="en-US"/>
          </a:p>
        </p:txBody>
      </p:sp>
    </p:spTree>
    <p:extLst>
      <p:ext uri="{BB962C8B-B14F-4D97-AF65-F5344CB8AC3E}">
        <p14:creationId xmlns:p14="http://schemas.microsoft.com/office/powerpoint/2010/main" val="4187529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CA8131-5935-4594-AB46-93EDA80C5D2F}" type="datetimeFigureOut">
              <a:rPr lang="en-US" smtClean="0"/>
              <a:t>11/6/2022</a:t>
            </a:fld>
            <a:endParaRPr 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9DE2FC-D87B-4400-84B8-EE9D66D3673B}" type="slidenum">
              <a:rPr lang="en-US" smtClean="0"/>
              <a:t>‹#›</a:t>
            </a:fld>
            <a:endParaRPr lang="en-US"/>
          </a:p>
        </p:txBody>
      </p:sp>
    </p:spTree>
    <p:extLst>
      <p:ext uri="{BB962C8B-B14F-4D97-AF65-F5344CB8AC3E}">
        <p14:creationId xmlns:p14="http://schemas.microsoft.com/office/powerpoint/2010/main" val="1916921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lstStyle/>
          <a:p>
            <a:r>
              <a:rPr lang="en-US" altLang="ko-KR"/>
              <a:t>Lecture 12</a:t>
            </a:r>
            <a:endParaRPr lang="en-US" dirty="0"/>
          </a:p>
        </p:txBody>
      </p:sp>
      <p:sp>
        <p:nvSpPr>
          <p:cNvPr id="3" name="부제목 2"/>
          <p:cNvSpPr>
            <a:spLocks noGrp="1"/>
          </p:cNvSpPr>
          <p:nvPr>
            <p:ph type="subTitle" idx="1"/>
          </p:nvPr>
        </p:nvSpPr>
        <p:spPr/>
        <p:txBody>
          <a:bodyPr/>
          <a:lstStyle/>
          <a:p>
            <a:r>
              <a:rPr lang="en-US" dirty="0"/>
              <a:t>RNA-seq: QC</a:t>
            </a:r>
          </a:p>
        </p:txBody>
      </p:sp>
    </p:spTree>
    <p:extLst>
      <p:ext uri="{BB962C8B-B14F-4D97-AF65-F5344CB8AC3E}">
        <p14:creationId xmlns:p14="http://schemas.microsoft.com/office/powerpoint/2010/main" val="3377919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err="1"/>
              <a:t>Zika</a:t>
            </a:r>
            <a:r>
              <a:rPr lang="en-US" dirty="0"/>
              <a:t> infected human samples</a:t>
            </a:r>
          </a:p>
        </p:txBody>
      </p:sp>
      <p:pic>
        <p:nvPicPr>
          <p:cNvPr id="4" name="내용 개체 틀 3"/>
          <p:cNvPicPr>
            <a:picLocks noGrp="1" noChangeAspect="1"/>
          </p:cNvPicPr>
          <p:nvPr>
            <p:ph idx="1"/>
          </p:nvPr>
        </p:nvPicPr>
        <p:blipFill>
          <a:blip r:embed="rId2"/>
          <a:stretch>
            <a:fillRect/>
          </a:stretch>
        </p:blipFill>
        <p:spPr>
          <a:xfrm>
            <a:off x="3225113" y="1435091"/>
            <a:ext cx="5962135" cy="5329382"/>
          </a:xfrm>
          <a:prstGeom prst="rect">
            <a:avLst/>
          </a:prstGeom>
        </p:spPr>
      </p:pic>
    </p:spTree>
    <p:extLst>
      <p:ext uri="{BB962C8B-B14F-4D97-AF65-F5344CB8AC3E}">
        <p14:creationId xmlns:p14="http://schemas.microsoft.com/office/powerpoint/2010/main" val="1107494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Experimental design</a:t>
            </a:r>
          </a:p>
        </p:txBody>
      </p:sp>
      <p:sp>
        <p:nvSpPr>
          <p:cNvPr id="3" name="내용 개체 틀 2"/>
          <p:cNvSpPr>
            <a:spLocks noGrp="1"/>
          </p:cNvSpPr>
          <p:nvPr>
            <p:ph idx="1"/>
          </p:nvPr>
        </p:nvSpPr>
        <p:spPr/>
        <p:txBody>
          <a:bodyPr>
            <a:normAutofit fontScale="85000" lnSpcReduction="10000"/>
          </a:bodyPr>
          <a:lstStyle/>
          <a:p>
            <a:pPr latinLnBrk="0">
              <a:lnSpc>
                <a:spcPct val="110000"/>
              </a:lnSpc>
            </a:pPr>
            <a:r>
              <a:rPr lang="en-US" dirty="0"/>
              <a:t>“</a:t>
            </a:r>
            <a:r>
              <a:rPr lang="en-US" altLang="ko-KR" dirty="0"/>
              <a:t>ZIKV-infected </a:t>
            </a:r>
            <a:r>
              <a:rPr lang="en-US" altLang="ko-KR" dirty="0" err="1"/>
              <a:t>hNPCs</a:t>
            </a:r>
            <a:r>
              <a:rPr lang="en-US" altLang="ko-KR" dirty="0"/>
              <a:t> 56 hours after ZIKA and mock infection in parallel cultures were used for global transcriptome analysis. RNA-</a:t>
            </a:r>
            <a:r>
              <a:rPr lang="en-US" altLang="ko-KR" dirty="0" err="1"/>
              <a:t>seq</a:t>
            </a:r>
            <a:r>
              <a:rPr lang="en-US" altLang="ko-KR" dirty="0"/>
              <a:t> libraries were generated from </a:t>
            </a:r>
            <a:r>
              <a:rPr lang="en-US" altLang="ko-KR" dirty="0">
                <a:solidFill>
                  <a:srgbClr val="FF0000"/>
                </a:solidFill>
              </a:rPr>
              <a:t>duplicated samples per condition</a:t>
            </a:r>
            <a:r>
              <a:rPr lang="en-US" altLang="ko-KR" dirty="0"/>
              <a:t> using the Illumina </a:t>
            </a:r>
            <a:r>
              <a:rPr lang="en-US" altLang="ko-KR" dirty="0" err="1"/>
              <a:t>TruSeq</a:t>
            </a:r>
            <a:r>
              <a:rPr lang="en-US" altLang="ko-KR" dirty="0"/>
              <a:t> RNA Sample Preparation Kit v2 following manufacturer’s protocol. An Agilent 2100 </a:t>
            </a:r>
            <a:r>
              <a:rPr lang="en-US" altLang="ko-KR" dirty="0" err="1"/>
              <a:t>BioAnalyzer</a:t>
            </a:r>
            <a:r>
              <a:rPr lang="en-US" altLang="ko-KR" dirty="0"/>
              <a:t> and DNA1000 kit (Agilent) were used to quantify amplified cDNA, and a qPCR-based KAPA library quantification kit (KAPA </a:t>
            </a:r>
            <a:r>
              <a:rPr lang="en-US" altLang="ko-KR" dirty="0" err="1"/>
              <a:t>Biosystems</a:t>
            </a:r>
            <a:r>
              <a:rPr lang="en-US" altLang="ko-KR" dirty="0"/>
              <a:t>) was used to accurately quantify library concentration. 12 </a:t>
            </a:r>
            <a:r>
              <a:rPr lang="en-US" altLang="ko-KR" dirty="0" err="1"/>
              <a:t>pM</a:t>
            </a:r>
            <a:r>
              <a:rPr lang="en-US" altLang="ko-KR" dirty="0"/>
              <a:t> diluted libraries were used for sequencing. </a:t>
            </a:r>
            <a:r>
              <a:rPr lang="en-US" altLang="ko-KR" dirty="0">
                <a:solidFill>
                  <a:srgbClr val="FF0000"/>
                </a:solidFill>
              </a:rPr>
              <a:t>75-cycle paired-end sequencings</a:t>
            </a:r>
            <a:r>
              <a:rPr lang="en-US" altLang="ko-KR" dirty="0"/>
              <a:t> were performed using Illumina </a:t>
            </a:r>
            <a:r>
              <a:rPr lang="en-US" altLang="ko-KR" dirty="0" err="1"/>
              <a:t>MiSeq</a:t>
            </a:r>
            <a:r>
              <a:rPr lang="en-US" altLang="ko-KR" dirty="0"/>
              <a:t> and </a:t>
            </a:r>
            <a:r>
              <a:rPr lang="en-US" altLang="ko-KR" dirty="0">
                <a:solidFill>
                  <a:srgbClr val="FF0000"/>
                </a:solidFill>
              </a:rPr>
              <a:t>single-end sequencings were performed as technical replicates</a:t>
            </a:r>
            <a:r>
              <a:rPr lang="en-US" altLang="ko-KR" dirty="0"/>
              <a:t> using Illumina </a:t>
            </a:r>
            <a:r>
              <a:rPr lang="en-US" altLang="ko-KR" dirty="0" err="1"/>
              <a:t>NextSeq</a:t>
            </a:r>
            <a:r>
              <a:rPr lang="en-US" altLang="ko-KR" dirty="0"/>
              <a:t>”</a:t>
            </a:r>
            <a:endParaRPr lang="en-US" dirty="0"/>
          </a:p>
        </p:txBody>
      </p:sp>
    </p:spTree>
    <p:extLst>
      <p:ext uri="{BB962C8B-B14F-4D97-AF65-F5344CB8AC3E}">
        <p14:creationId xmlns:p14="http://schemas.microsoft.com/office/powerpoint/2010/main" val="363219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Experimental design</a:t>
            </a:r>
            <a:endParaRPr lang="en-US" dirty="0"/>
          </a:p>
        </p:txBody>
      </p:sp>
      <p:sp>
        <p:nvSpPr>
          <p:cNvPr id="3" name="내용 개체 틀 2"/>
          <p:cNvSpPr>
            <a:spLocks noGrp="1"/>
          </p:cNvSpPr>
          <p:nvPr>
            <p:ph idx="1"/>
          </p:nvPr>
        </p:nvSpPr>
        <p:spPr/>
        <p:txBody>
          <a:bodyPr>
            <a:normAutofit lnSpcReduction="10000"/>
          </a:bodyPr>
          <a:lstStyle/>
          <a:p>
            <a:pPr latinLnBrk="0">
              <a:lnSpc>
                <a:spcPct val="100000"/>
              </a:lnSpc>
            </a:pPr>
            <a:r>
              <a:rPr lang="en-US" dirty="0" err="1"/>
              <a:t>Zika</a:t>
            </a:r>
            <a:r>
              <a:rPr lang="en-US" dirty="0"/>
              <a:t> infected (treatment) and mock infected (control) human embryonic cortical neural progenitor cells (</a:t>
            </a:r>
            <a:r>
              <a:rPr lang="en-US" dirty="0" err="1"/>
              <a:t>hNPCs</a:t>
            </a:r>
            <a:r>
              <a:rPr lang="en-US" dirty="0"/>
              <a:t>).</a:t>
            </a:r>
          </a:p>
          <a:p>
            <a:pPr latinLnBrk="0">
              <a:lnSpc>
                <a:spcPct val="100000"/>
              </a:lnSpc>
            </a:pPr>
            <a:endParaRPr lang="en-US" dirty="0"/>
          </a:p>
          <a:p>
            <a:pPr latinLnBrk="0">
              <a:lnSpc>
                <a:spcPct val="100000"/>
              </a:lnSpc>
            </a:pPr>
            <a:r>
              <a:rPr lang="en-US" dirty="0"/>
              <a:t>75bp PE reads by Illumina </a:t>
            </a:r>
            <a:r>
              <a:rPr lang="en-US" dirty="0" err="1"/>
              <a:t>MiSeq</a:t>
            </a:r>
            <a:endParaRPr lang="en-US" dirty="0"/>
          </a:p>
          <a:p>
            <a:pPr latinLnBrk="0">
              <a:lnSpc>
                <a:spcPct val="100000"/>
              </a:lnSpc>
            </a:pPr>
            <a:endParaRPr lang="en-US" dirty="0"/>
          </a:p>
          <a:p>
            <a:pPr latinLnBrk="0">
              <a:lnSpc>
                <a:spcPct val="100000"/>
              </a:lnSpc>
            </a:pPr>
            <a:r>
              <a:rPr lang="en-US" dirty="0"/>
              <a:t>2 replicates for both treatment and control samples</a:t>
            </a:r>
          </a:p>
          <a:p>
            <a:pPr latinLnBrk="0">
              <a:lnSpc>
                <a:spcPct val="100000"/>
              </a:lnSpc>
            </a:pPr>
            <a:endParaRPr lang="en-US" dirty="0"/>
          </a:p>
          <a:p>
            <a:pPr latinLnBrk="0">
              <a:lnSpc>
                <a:spcPct val="100000"/>
              </a:lnSpc>
            </a:pPr>
            <a:r>
              <a:rPr lang="en-US" dirty="0"/>
              <a:t>the same data was sequenced again using Illumina </a:t>
            </a:r>
            <a:r>
              <a:rPr lang="en-US" dirty="0" err="1"/>
              <a:t>NextSeq</a:t>
            </a:r>
            <a:r>
              <a:rPr lang="en-US" dirty="0"/>
              <a:t> in 75bp SE reads</a:t>
            </a:r>
          </a:p>
        </p:txBody>
      </p:sp>
    </p:spTree>
    <p:extLst>
      <p:ext uri="{BB962C8B-B14F-4D97-AF65-F5344CB8AC3E}">
        <p14:creationId xmlns:p14="http://schemas.microsoft.com/office/powerpoint/2010/main" val="310546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Experimental design</a:t>
            </a:r>
          </a:p>
        </p:txBody>
      </p:sp>
      <p:graphicFrame>
        <p:nvGraphicFramePr>
          <p:cNvPr id="5" name="내용 개체 틀 4"/>
          <p:cNvGraphicFramePr>
            <a:graphicFrameLocks noGrp="1"/>
          </p:cNvGraphicFramePr>
          <p:nvPr>
            <p:ph idx="1"/>
          </p:nvPr>
        </p:nvGraphicFramePr>
        <p:xfrm>
          <a:off x="1077098" y="1690688"/>
          <a:ext cx="10037804" cy="4337226"/>
        </p:xfrm>
        <a:graphic>
          <a:graphicData uri="http://schemas.openxmlformats.org/drawingml/2006/table">
            <a:tbl>
              <a:tblPr/>
              <a:tblGrid>
                <a:gridCol w="1165680">
                  <a:extLst>
                    <a:ext uri="{9D8B030D-6E8A-4147-A177-3AD203B41FA5}">
                      <a16:colId xmlns:a16="http://schemas.microsoft.com/office/drawing/2014/main" val="573412942"/>
                    </a:ext>
                  </a:extLst>
                </a:gridCol>
                <a:gridCol w="3561802">
                  <a:extLst>
                    <a:ext uri="{9D8B030D-6E8A-4147-A177-3AD203B41FA5}">
                      <a16:colId xmlns:a16="http://schemas.microsoft.com/office/drawing/2014/main" val="2801585883"/>
                    </a:ext>
                  </a:extLst>
                </a:gridCol>
                <a:gridCol w="3480851">
                  <a:extLst>
                    <a:ext uri="{9D8B030D-6E8A-4147-A177-3AD203B41FA5}">
                      <a16:colId xmlns:a16="http://schemas.microsoft.com/office/drawing/2014/main" val="1304911410"/>
                    </a:ext>
                  </a:extLst>
                </a:gridCol>
                <a:gridCol w="1829471">
                  <a:extLst>
                    <a:ext uri="{9D8B030D-6E8A-4147-A177-3AD203B41FA5}">
                      <a16:colId xmlns:a16="http://schemas.microsoft.com/office/drawing/2014/main" val="2153704467"/>
                    </a:ext>
                  </a:extLst>
                </a:gridCol>
              </a:tblGrid>
              <a:tr h="481914">
                <a:tc>
                  <a:txBody>
                    <a:bodyPr/>
                    <a:lstStyle/>
                    <a:p>
                      <a:pPr algn="ctr" fontAlgn="b"/>
                      <a:r>
                        <a:rPr lang="en-US" sz="1200" b="1" i="0" u="none" strike="noStrike">
                          <a:solidFill>
                            <a:srgbClr val="000000"/>
                          </a:solidFill>
                          <a:effectLst/>
                          <a:latin typeface="맑은 고딕" panose="020B0503020000020004" pitchFamily="50" charset="-127"/>
                          <a:ea typeface="맑은 고딕" panose="020B0503020000020004" pitchFamily="50" charset="-127"/>
                        </a:rPr>
                        <a:t>Sample</a:t>
                      </a:r>
                    </a:p>
                  </a:txBody>
                  <a:tcPr marL="9525" marR="9525" marT="9525" marB="0" anchor="b">
                    <a:lnL>
                      <a:noFill/>
                    </a:lnL>
                    <a:lnR>
                      <a:noFill/>
                    </a:lnR>
                    <a:lnT>
                      <a:noFill/>
                    </a:lnT>
                    <a:lnB>
                      <a:noFill/>
                    </a:lnB>
                  </a:tcPr>
                </a:tc>
                <a:tc>
                  <a:txBody>
                    <a:bodyPr/>
                    <a:lstStyle/>
                    <a:p>
                      <a:pPr algn="ctr" fontAlgn="b"/>
                      <a:r>
                        <a:rPr lang="en-US" sz="1200" b="1" i="0" u="none" strike="noStrike" dirty="0" err="1">
                          <a:solidFill>
                            <a:srgbClr val="000000"/>
                          </a:solidFill>
                          <a:effectLst/>
                          <a:latin typeface="맑은 고딕" panose="020B0503020000020004" pitchFamily="50" charset="-127"/>
                          <a:ea typeface="맑은 고딕" panose="020B0503020000020004" pitchFamily="50" charset="-127"/>
                        </a:rPr>
                        <a:t>Seq</a:t>
                      </a:r>
                      <a:r>
                        <a:rPr lang="en-US" sz="1200" b="1" i="0" u="none" strike="noStrike" dirty="0">
                          <a:solidFill>
                            <a:srgbClr val="000000"/>
                          </a:solidFill>
                          <a:effectLst/>
                          <a:latin typeface="맑은 고딕" panose="020B0503020000020004" pitchFamily="50" charset="-127"/>
                          <a:ea typeface="맑은 고딕" panose="020B0503020000020004" pitchFamily="50" charset="-127"/>
                        </a:rPr>
                        <a:t> reads coverage (million)</a:t>
                      </a:r>
                    </a:p>
                  </a:txBody>
                  <a:tcPr marL="9525" marR="9525" marT="9525" marB="0" anchor="b">
                    <a:lnL>
                      <a:noFill/>
                    </a:lnL>
                    <a:lnR>
                      <a:noFill/>
                    </a:lnR>
                    <a:lnT>
                      <a:noFill/>
                    </a:lnT>
                    <a:lnB>
                      <a:noFill/>
                    </a:lnB>
                  </a:tcPr>
                </a:tc>
                <a:tc>
                  <a:txBody>
                    <a:bodyPr/>
                    <a:lstStyle/>
                    <a:p>
                      <a:pPr algn="ctr" fontAlgn="b"/>
                      <a:r>
                        <a:rPr lang="en-US" sz="1200" b="1" i="0" u="none" strike="noStrike">
                          <a:solidFill>
                            <a:srgbClr val="000000"/>
                          </a:solidFill>
                          <a:effectLst/>
                          <a:latin typeface="맑은 고딕" panose="020B0503020000020004" pitchFamily="50" charset="-127"/>
                          <a:ea typeface="맑은 고딕" panose="020B0503020000020004" pitchFamily="50" charset="-127"/>
                        </a:rPr>
                        <a:t>Mapped ratio</a:t>
                      </a:r>
                    </a:p>
                  </a:txBody>
                  <a:tcPr marL="9525" marR="9525" marT="9525" marB="0" anchor="b">
                    <a:lnL>
                      <a:noFill/>
                    </a:lnL>
                    <a:lnR>
                      <a:noFill/>
                    </a:lnR>
                    <a:lnT>
                      <a:noFill/>
                    </a:lnT>
                    <a:lnB>
                      <a:noFill/>
                    </a:lnB>
                  </a:tcPr>
                </a:tc>
                <a:tc>
                  <a:txBody>
                    <a:bodyPr/>
                    <a:lstStyle/>
                    <a:p>
                      <a:pPr algn="ctr" fontAlgn="b"/>
                      <a:r>
                        <a:rPr lang="en-US" sz="1200" b="1" i="0" u="none" strike="noStrike">
                          <a:solidFill>
                            <a:srgbClr val="000000"/>
                          </a:solidFill>
                          <a:effectLst/>
                          <a:latin typeface="맑은 고딕" panose="020B0503020000020004" pitchFamily="50" charset="-127"/>
                          <a:ea typeface="맑은 고딕" panose="020B0503020000020004" pitchFamily="50" charset="-127"/>
                        </a:rPr>
                        <a:t>Seq method</a:t>
                      </a:r>
                    </a:p>
                  </a:txBody>
                  <a:tcPr marL="9525" marR="9525" marT="9525" marB="0" anchor="b">
                    <a:lnL>
                      <a:noFill/>
                    </a:lnL>
                    <a:lnR>
                      <a:noFill/>
                    </a:lnR>
                    <a:lnT>
                      <a:noFill/>
                    </a:lnT>
                    <a:lnB>
                      <a:noFill/>
                    </a:lnB>
                  </a:tcPr>
                </a:tc>
                <a:extLst>
                  <a:ext uri="{0D108BD9-81ED-4DB2-BD59-A6C34878D82A}">
                    <a16:rowId xmlns:a16="http://schemas.microsoft.com/office/drawing/2014/main" val="1296326278"/>
                  </a:ext>
                </a:extLst>
              </a:tr>
              <a:tr h="481914">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Mock1-1</a:t>
                      </a:r>
                    </a:p>
                  </a:txBody>
                  <a:tcPr marL="9525" marR="9525" marT="9525" marB="0" anchor="b">
                    <a:lnL>
                      <a:noFill/>
                    </a:lnL>
                    <a:lnR>
                      <a:noFill/>
                    </a:lnR>
                    <a:lnT>
                      <a:noFill/>
                    </a:lnT>
                    <a:lnB>
                      <a:noFill/>
                    </a:lnB>
                  </a:tcPr>
                </a:tc>
                <a:tc>
                  <a:txBody>
                    <a:bodyPr/>
                    <a:lstStyle/>
                    <a:p>
                      <a:pPr algn="ctr" fontAlgn="b"/>
                      <a:r>
                        <a:rPr lang="en-US" altLang="ko-KR" sz="1400" b="0" i="0" u="none" strike="noStrike">
                          <a:solidFill>
                            <a:srgbClr val="000000"/>
                          </a:solidFill>
                          <a:effectLst/>
                          <a:latin typeface="맑은 고딕" panose="020B0503020000020004" pitchFamily="50" charset="-127"/>
                          <a:ea typeface="맑은 고딕" panose="020B0503020000020004" pitchFamily="50" charset="-127"/>
                        </a:rPr>
                        <a:t>15.8</a:t>
                      </a:r>
                    </a:p>
                  </a:txBody>
                  <a:tcPr marL="9525" marR="9525" marT="9525" marB="0" anchor="b">
                    <a:lnL>
                      <a:noFill/>
                    </a:lnL>
                    <a:lnR>
                      <a:noFill/>
                    </a:lnR>
                    <a:lnT>
                      <a:noFill/>
                    </a:lnT>
                    <a:lnB>
                      <a:noFill/>
                    </a:lnB>
                  </a:tcPr>
                </a:tc>
                <a:tc>
                  <a:txBody>
                    <a:bodyPr/>
                    <a:lstStyle/>
                    <a:p>
                      <a:pPr algn="l" fontAlgn="b"/>
                      <a:r>
                        <a:rPr lang="fr-FR" sz="1400" b="0" i="0" u="none" strike="noStrike">
                          <a:solidFill>
                            <a:srgbClr val="000000"/>
                          </a:solidFill>
                          <a:effectLst/>
                          <a:latin typeface="맑은 고딕" panose="020B0503020000020004" pitchFamily="50" charset="-127"/>
                          <a:ea typeface="맑은 고딕" panose="020B0503020000020004" pitchFamily="50" charset="-127"/>
                        </a:rPr>
                        <a:t>90.7% concordant pair alignment rate</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Paired-end</a:t>
                      </a:r>
                    </a:p>
                  </a:txBody>
                  <a:tcPr marL="9525" marR="9525" marT="9525" marB="0" anchor="b">
                    <a:lnL>
                      <a:noFill/>
                    </a:lnL>
                    <a:lnR>
                      <a:noFill/>
                    </a:lnR>
                    <a:lnT>
                      <a:noFill/>
                    </a:lnT>
                    <a:lnB>
                      <a:noFill/>
                    </a:lnB>
                  </a:tcPr>
                </a:tc>
                <a:extLst>
                  <a:ext uri="{0D108BD9-81ED-4DB2-BD59-A6C34878D82A}">
                    <a16:rowId xmlns:a16="http://schemas.microsoft.com/office/drawing/2014/main" val="3954181328"/>
                  </a:ext>
                </a:extLst>
              </a:tr>
              <a:tr h="481914">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Mock2-1</a:t>
                      </a:r>
                    </a:p>
                  </a:txBody>
                  <a:tcPr marL="9525" marR="9525" marT="9525" marB="0" anchor="b">
                    <a:lnL>
                      <a:noFill/>
                    </a:lnL>
                    <a:lnR>
                      <a:noFill/>
                    </a:lnR>
                    <a:lnT>
                      <a:noFill/>
                    </a:lnT>
                    <a:lnB>
                      <a:noFill/>
                    </a:lnB>
                  </a:tcPr>
                </a:tc>
                <a:tc>
                  <a:txBody>
                    <a:bodyPr/>
                    <a:lstStyle/>
                    <a:p>
                      <a:pPr algn="ctr" fontAlgn="b"/>
                      <a:r>
                        <a:rPr lang="en-US" altLang="ko-KR" sz="1400" b="0" i="0" u="none" strike="noStrike">
                          <a:solidFill>
                            <a:srgbClr val="000000"/>
                          </a:solidFill>
                          <a:effectLst/>
                          <a:latin typeface="맑은 고딕" panose="020B0503020000020004" pitchFamily="50" charset="-127"/>
                          <a:ea typeface="맑은 고딕" panose="020B0503020000020004" pitchFamily="50" charset="-127"/>
                        </a:rPr>
                        <a:t>14.8</a:t>
                      </a:r>
                    </a:p>
                  </a:txBody>
                  <a:tcPr marL="9525" marR="9525" marT="9525" marB="0" anchor="b">
                    <a:lnL>
                      <a:noFill/>
                    </a:lnL>
                    <a:lnR>
                      <a:noFill/>
                    </a:lnR>
                    <a:lnT>
                      <a:noFill/>
                    </a:lnT>
                    <a:lnB>
                      <a:noFill/>
                    </a:lnB>
                  </a:tcPr>
                </a:tc>
                <a:tc>
                  <a:txBody>
                    <a:bodyPr/>
                    <a:lstStyle/>
                    <a:p>
                      <a:pPr algn="l" fontAlgn="b"/>
                      <a:r>
                        <a:rPr lang="fr-FR" sz="1400" b="0" i="0" u="none" strike="noStrike">
                          <a:solidFill>
                            <a:srgbClr val="000000"/>
                          </a:solidFill>
                          <a:effectLst/>
                          <a:latin typeface="맑은 고딕" panose="020B0503020000020004" pitchFamily="50" charset="-127"/>
                          <a:ea typeface="맑은 고딕" panose="020B0503020000020004" pitchFamily="50" charset="-127"/>
                        </a:rPr>
                        <a:t>88.8% concordant pair alignment rate</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Paired-end</a:t>
                      </a:r>
                    </a:p>
                  </a:txBody>
                  <a:tcPr marL="9525" marR="9525" marT="9525" marB="0" anchor="b">
                    <a:lnL>
                      <a:noFill/>
                    </a:lnL>
                    <a:lnR>
                      <a:noFill/>
                    </a:lnR>
                    <a:lnT>
                      <a:noFill/>
                    </a:lnT>
                    <a:lnB>
                      <a:noFill/>
                    </a:lnB>
                  </a:tcPr>
                </a:tc>
                <a:extLst>
                  <a:ext uri="{0D108BD9-81ED-4DB2-BD59-A6C34878D82A}">
                    <a16:rowId xmlns:a16="http://schemas.microsoft.com/office/drawing/2014/main" val="2449174246"/>
                  </a:ext>
                </a:extLst>
              </a:tr>
              <a:tr h="481914">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ZIKV1-1</a:t>
                      </a:r>
                    </a:p>
                  </a:txBody>
                  <a:tcPr marL="9525" marR="9525" marT="9525" marB="0" anchor="b">
                    <a:lnL>
                      <a:noFill/>
                    </a:lnL>
                    <a:lnR>
                      <a:noFill/>
                    </a:lnR>
                    <a:lnT>
                      <a:noFill/>
                    </a:lnT>
                    <a:lnB>
                      <a:noFill/>
                    </a:lnB>
                  </a:tcPr>
                </a:tc>
                <a:tc>
                  <a:txBody>
                    <a:bodyPr/>
                    <a:lstStyle/>
                    <a:p>
                      <a:pPr algn="ctr" fontAlgn="b"/>
                      <a:r>
                        <a:rPr lang="en-US" altLang="ko-KR" sz="1400" b="0" i="0" u="none" strike="noStrike">
                          <a:solidFill>
                            <a:srgbClr val="000000"/>
                          </a:solidFill>
                          <a:effectLst/>
                          <a:latin typeface="맑은 고딕" panose="020B0503020000020004" pitchFamily="50" charset="-127"/>
                          <a:ea typeface="맑은 고딕" panose="020B0503020000020004" pitchFamily="50" charset="-127"/>
                        </a:rPr>
                        <a:t>14.6</a:t>
                      </a:r>
                    </a:p>
                  </a:txBody>
                  <a:tcPr marL="9525" marR="9525" marT="9525" marB="0" anchor="b">
                    <a:lnL>
                      <a:noFill/>
                    </a:lnL>
                    <a:lnR>
                      <a:noFill/>
                    </a:lnR>
                    <a:lnT>
                      <a:noFill/>
                    </a:lnT>
                    <a:lnB>
                      <a:noFill/>
                    </a:lnB>
                  </a:tcPr>
                </a:tc>
                <a:tc>
                  <a:txBody>
                    <a:bodyPr/>
                    <a:lstStyle/>
                    <a:p>
                      <a:pPr algn="l" fontAlgn="b"/>
                      <a:r>
                        <a:rPr lang="fr-FR" sz="1400" b="0" i="0" u="none" strike="noStrike">
                          <a:solidFill>
                            <a:srgbClr val="000000"/>
                          </a:solidFill>
                          <a:effectLst/>
                          <a:latin typeface="맑은 고딕" panose="020B0503020000020004" pitchFamily="50" charset="-127"/>
                          <a:ea typeface="맑은 고딕" panose="020B0503020000020004" pitchFamily="50" charset="-127"/>
                        </a:rPr>
                        <a:t>90.2% concordant pair alignment rate</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Paired-end</a:t>
                      </a:r>
                    </a:p>
                  </a:txBody>
                  <a:tcPr marL="9525" marR="9525" marT="9525" marB="0" anchor="b">
                    <a:lnL>
                      <a:noFill/>
                    </a:lnL>
                    <a:lnR>
                      <a:noFill/>
                    </a:lnR>
                    <a:lnT>
                      <a:noFill/>
                    </a:lnT>
                    <a:lnB>
                      <a:noFill/>
                    </a:lnB>
                  </a:tcPr>
                </a:tc>
                <a:extLst>
                  <a:ext uri="{0D108BD9-81ED-4DB2-BD59-A6C34878D82A}">
                    <a16:rowId xmlns:a16="http://schemas.microsoft.com/office/drawing/2014/main" val="3888625326"/>
                  </a:ext>
                </a:extLst>
              </a:tr>
              <a:tr h="481914">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ZIKV2-1</a:t>
                      </a:r>
                    </a:p>
                  </a:txBody>
                  <a:tcPr marL="9525" marR="9525" marT="9525" marB="0" anchor="b">
                    <a:lnL>
                      <a:noFill/>
                    </a:lnL>
                    <a:lnR>
                      <a:noFill/>
                    </a:lnR>
                    <a:lnT>
                      <a:noFill/>
                    </a:lnT>
                    <a:lnB>
                      <a:noFill/>
                    </a:lnB>
                  </a:tcPr>
                </a:tc>
                <a:tc>
                  <a:txBody>
                    <a:bodyPr/>
                    <a:lstStyle/>
                    <a:p>
                      <a:pPr algn="ctr" fontAlgn="b"/>
                      <a:r>
                        <a:rPr lang="en-US" altLang="ko-KR" sz="1400" b="0" i="0" u="none" strike="noStrike">
                          <a:solidFill>
                            <a:srgbClr val="000000"/>
                          </a:solidFill>
                          <a:effectLst/>
                          <a:latin typeface="맑은 고딕" panose="020B0503020000020004" pitchFamily="50" charset="-127"/>
                          <a:ea typeface="맑은 고딕" panose="020B0503020000020004" pitchFamily="50" charset="-127"/>
                        </a:rPr>
                        <a:t>15.2</a:t>
                      </a:r>
                    </a:p>
                  </a:txBody>
                  <a:tcPr marL="9525" marR="9525" marT="9525" marB="0" anchor="b">
                    <a:lnL>
                      <a:noFill/>
                    </a:lnL>
                    <a:lnR>
                      <a:noFill/>
                    </a:lnR>
                    <a:lnT>
                      <a:noFill/>
                    </a:lnT>
                    <a:lnB>
                      <a:noFill/>
                    </a:lnB>
                  </a:tcPr>
                </a:tc>
                <a:tc>
                  <a:txBody>
                    <a:bodyPr/>
                    <a:lstStyle/>
                    <a:p>
                      <a:pPr algn="l" fontAlgn="b"/>
                      <a:r>
                        <a:rPr lang="fr-FR" sz="1400" b="0" i="0" u="none" strike="noStrike">
                          <a:solidFill>
                            <a:srgbClr val="000000"/>
                          </a:solidFill>
                          <a:effectLst/>
                          <a:latin typeface="맑은 고딕" panose="020B0503020000020004" pitchFamily="50" charset="-127"/>
                          <a:ea typeface="맑은 고딕" panose="020B0503020000020004" pitchFamily="50" charset="-127"/>
                        </a:rPr>
                        <a:t>89.9% concordant pair alignment rate</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Paired-end</a:t>
                      </a:r>
                    </a:p>
                  </a:txBody>
                  <a:tcPr marL="9525" marR="9525" marT="9525" marB="0" anchor="b">
                    <a:lnL>
                      <a:noFill/>
                    </a:lnL>
                    <a:lnR>
                      <a:noFill/>
                    </a:lnR>
                    <a:lnT>
                      <a:noFill/>
                    </a:lnT>
                    <a:lnB>
                      <a:noFill/>
                    </a:lnB>
                  </a:tcPr>
                </a:tc>
                <a:extLst>
                  <a:ext uri="{0D108BD9-81ED-4DB2-BD59-A6C34878D82A}">
                    <a16:rowId xmlns:a16="http://schemas.microsoft.com/office/drawing/2014/main" val="3580920407"/>
                  </a:ext>
                </a:extLst>
              </a:tr>
              <a:tr h="481914">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Mock1-2</a:t>
                      </a:r>
                    </a:p>
                  </a:txBody>
                  <a:tcPr marL="9525" marR="9525" marT="9525" marB="0" anchor="b">
                    <a:lnL>
                      <a:noFill/>
                    </a:lnL>
                    <a:lnR>
                      <a:noFill/>
                    </a:lnR>
                    <a:lnT>
                      <a:noFill/>
                    </a:lnT>
                    <a:lnB>
                      <a:noFill/>
                    </a:lnB>
                  </a:tcPr>
                </a:tc>
                <a:tc>
                  <a:txBody>
                    <a:bodyPr/>
                    <a:lstStyle/>
                    <a:p>
                      <a:pPr algn="ctr" fontAlgn="b"/>
                      <a:r>
                        <a:rPr lang="en-US" altLang="ko-KR" sz="1400" b="0" i="0" u="none" strike="noStrike">
                          <a:solidFill>
                            <a:srgbClr val="000000"/>
                          </a:solidFill>
                          <a:effectLst/>
                          <a:latin typeface="맑은 고딕" panose="020B0503020000020004" pitchFamily="50" charset="-127"/>
                          <a:ea typeface="맑은 고딕" panose="020B0503020000020004" pitchFamily="50" charset="-127"/>
                        </a:rPr>
                        <a:t>72</a:t>
                      </a:r>
                    </a:p>
                  </a:txBody>
                  <a:tcPr marL="9525" marR="9525" marT="9525" marB="0" anchor="b">
                    <a:lnL>
                      <a:noFill/>
                    </a:lnL>
                    <a:lnR>
                      <a:noFill/>
                    </a:lnR>
                    <a:lnT>
                      <a:noFill/>
                    </a:lnT>
                    <a:lnB>
                      <a:noFill/>
                    </a:lnB>
                  </a:tcPr>
                </a:tc>
                <a:tc>
                  <a:txBody>
                    <a:bodyPr/>
                    <a:lstStyle/>
                    <a:p>
                      <a:pPr algn="l"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89.5% overall read mapping rate</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Single-end</a:t>
                      </a:r>
                    </a:p>
                  </a:txBody>
                  <a:tcPr marL="9525" marR="9525" marT="9525" marB="0" anchor="b">
                    <a:lnL>
                      <a:noFill/>
                    </a:lnL>
                    <a:lnR>
                      <a:noFill/>
                    </a:lnR>
                    <a:lnT>
                      <a:noFill/>
                    </a:lnT>
                    <a:lnB>
                      <a:noFill/>
                    </a:lnB>
                  </a:tcPr>
                </a:tc>
                <a:extLst>
                  <a:ext uri="{0D108BD9-81ED-4DB2-BD59-A6C34878D82A}">
                    <a16:rowId xmlns:a16="http://schemas.microsoft.com/office/drawing/2014/main" val="2581985243"/>
                  </a:ext>
                </a:extLst>
              </a:tr>
              <a:tr h="481914">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Mock2-2</a:t>
                      </a:r>
                    </a:p>
                  </a:txBody>
                  <a:tcPr marL="9525" marR="9525" marT="9525" marB="0" anchor="b">
                    <a:lnL>
                      <a:noFill/>
                    </a:lnL>
                    <a:lnR>
                      <a:noFill/>
                    </a:lnR>
                    <a:lnT>
                      <a:noFill/>
                    </a:lnT>
                    <a:lnB>
                      <a:noFill/>
                    </a:lnB>
                  </a:tcPr>
                </a:tc>
                <a:tc>
                  <a:txBody>
                    <a:bodyPr/>
                    <a:lstStyle/>
                    <a:p>
                      <a:pPr algn="ctr" fontAlgn="b"/>
                      <a:r>
                        <a:rPr lang="en-US" altLang="ko-KR" sz="1400" b="0" i="0" u="none" strike="noStrike">
                          <a:solidFill>
                            <a:srgbClr val="000000"/>
                          </a:solidFill>
                          <a:effectLst/>
                          <a:latin typeface="맑은 고딕" panose="020B0503020000020004" pitchFamily="50" charset="-127"/>
                          <a:ea typeface="맑은 고딕" panose="020B0503020000020004" pitchFamily="50" charset="-127"/>
                        </a:rPr>
                        <a:t>92</a:t>
                      </a:r>
                    </a:p>
                  </a:txBody>
                  <a:tcPr marL="9525" marR="9525" marT="9525" marB="0" anchor="b">
                    <a:lnL>
                      <a:noFill/>
                    </a:lnL>
                    <a:lnR>
                      <a:noFill/>
                    </a:lnR>
                    <a:lnT>
                      <a:noFill/>
                    </a:lnT>
                    <a:lnB>
                      <a:noFill/>
                    </a:lnB>
                  </a:tcPr>
                </a:tc>
                <a:tc>
                  <a:txBody>
                    <a:bodyPr/>
                    <a:lstStyle/>
                    <a:p>
                      <a:pPr algn="l"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89.4% overall read mapping rate</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Single-end</a:t>
                      </a:r>
                    </a:p>
                  </a:txBody>
                  <a:tcPr marL="9525" marR="9525" marT="9525" marB="0" anchor="b">
                    <a:lnL>
                      <a:noFill/>
                    </a:lnL>
                    <a:lnR>
                      <a:noFill/>
                    </a:lnR>
                    <a:lnT>
                      <a:noFill/>
                    </a:lnT>
                    <a:lnB>
                      <a:noFill/>
                    </a:lnB>
                  </a:tcPr>
                </a:tc>
                <a:extLst>
                  <a:ext uri="{0D108BD9-81ED-4DB2-BD59-A6C34878D82A}">
                    <a16:rowId xmlns:a16="http://schemas.microsoft.com/office/drawing/2014/main" val="664842952"/>
                  </a:ext>
                </a:extLst>
              </a:tr>
              <a:tr h="481914">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ZIKV1-2</a:t>
                      </a:r>
                    </a:p>
                  </a:txBody>
                  <a:tcPr marL="9525" marR="9525" marT="9525" marB="0" anchor="b">
                    <a:lnL>
                      <a:noFill/>
                    </a:lnL>
                    <a:lnR>
                      <a:noFill/>
                    </a:lnR>
                    <a:lnT>
                      <a:noFill/>
                    </a:lnT>
                    <a:lnB>
                      <a:noFill/>
                    </a:lnB>
                  </a:tcPr>
                </a:tc>
                <a:tc>
                  <a:txBody>
                    <a:bodyPr/>
                    <a:lstStyle/>
                    <a:p>
                      <a:pPr algn="ctr" fontAlgn="b"/>
                      <a:r>
                        <a:rPr lang="en-US" altLang="ko-KR" sz="1400" b="0" i="0" u="none" strike="noStrike">
                          <a:solidFill>
                            <a:srgbClr val="000000"/>
                          </a:solidFill>
                          <a:effectLst/>
                          <a:latin typeface="맑은 고딕" panose="020B0503020000020004" pitchFamily="50" charset="-127"/>
                          <a:ea typeface="맑은 고딕" panose="020B0503020000020004" pitchFamily="50" charset="-127"/>
                        </a:rPr>
                        <a:t>75</a:t>
                      </a:r>
                    </a:p>
                  </a:txBody>
                  <a:tcPr marL="9525" marR="9525" marT="9525" marB="0" anchor="b">
                    <a:lnL>
                      <a:noFill/>
                    </a:lnL>
                    <a:lnR>
                      <a:noFill/>
                    </a:lnR>
                    <a:lnT>
                      <a:noFill/>
                    </a:lnT>
                    <a:lnB>
                      <a:noFill/>
                    </a:lnB>
                  </a:tcPr>
                </a:tc>
                <a:tc>
                  <a:txBody>
                    <a:bodyPr/>
                    <a:lstStyle/>
                    <a:p>
                      <a:pPr algn="l"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88.5% overall read mapping rate</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Single-end</a:t>
                      </a:r>
                    </a:p>
                  </a:txBody>
                  <a:tcPr marL="9525" marR="9525" marT="9525" marB="0" anchor="b">
                    <a:lnL>
                      <a:noFill/>
                    </a:lnL>
                    <a:lnR>
                      <a:noFill/>
                    </a:lnR>
                    <a:lnT>
                      <a:noFill/>
                    </a:lnT>
                    <a:lnB>
                      <a:noFill/>
                    </a:lnB>
                  </a:tcPr>
                </a:tc>
                <a:extLst>
                  <a:ext uri="{0D108BD9-81ED-4DB2-BD59-A6C34878D82A}">
                    <a16:rowId xmlns:a16="http://schemas.microsoft.com/office/drawing/2014/main" val="3444578625"/>
                  </a:ext>
                </a:extLst>
              </a:tr>
              <a:tr h="481914">
                <a:tc>
                  <a:txBody>
                    <a:bodyPr/>
                    <a:lstStyle/>
                    <a:p>
                      <a:pPr algn="ctr"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ZIKV2-2</a:t>
                      </a:r>
                    </a:p>
                  </a:txBody>
                  <a:tcPr marL="9525" marR="9525" marT="9525" marB="0" anchor="b">
                    <a:lnL>
                      <a:noFill/>
                    </a:lnL>
                    <a:lnR>
                      <a:noFill/>
                    </a:lnR>
                    <a:lnT>
                      <a:noFill/>
                    </a:lnT>
                    <a:lnB>
                      <a:noFill/>
                    </a:lnB>
                  </a:tcPr>
                </a:tc>
                <a:tc>
                  <a:txBody>
                    <a:bodyPr/>
                    <a:lstStyle/>
                    <a:p>
                      <a:pPr algn="ctr" fontAlgn="b"/>
                      <a:r>
                        <a:rPr lang="en-US" altLang="ko-KR" sz="1400" b="0" i="0" u="none" strike="noStrike">
                          <a:solidFill>
                            <a:srgbClr val="000000"/>
                          </a:solidFill>
                          <a:effectLst/>
                          <a:latin typeface="맑은 고딕" panose="020B0503020000020004" pitchFamily="50" charset="-127"/>
                          <a:ea typeface="맑은 고딕" panose="020B0503020000020004" pitchFamily="50" charset="-127"/>
                        </a:rPr>
                        <a:t>66</a:t>
                      </a:r>
                    </a:p>
                  </a:txBody>
                  <a:tcPr marL="9525" marR="9525" marT="9525" marB="0" anchor="b">
                    <a:lnL>
                      <a:noFill/>
                    </a:lnL>
                    <a:lnR>
                      <a:noFill/>
                    </a:lnR>
                    <a:lnT>
                      <a:noFill/>
                    </a:lnT>
                    <a:lnB>
                      <a:noFill/>
                    </a:lnB>
                  </a:tcPr>
                </a:tc>
                <a:tc>
                  <a:txBody>
                    <a:bodyPr/>
                    <a:lstStyle/>
                    <a:p>
                      <a:pPr algn="l" fontAlgn="b"/>
                      <a:r>
                        <a:rPr lang="en-US" sz="1400" b="0" i="0" u="none" strike="noStrike">
                          <a:solidFill>
                            <a:srgbClr val="000000"/>
                          </a:solidFill>
                          <a:effectLst/>
                          <a:latin typeface="맑은 고딕" panose="020B0503020000020004" pitchFamily="50" charset="-127"/>
                          <a:ea typeface="맑은 고딕" panose="020B0503020000020004" pitchFamily="50" charset="-127"/>
                        </a:rPr>
                        <a:t>88.2% overall read mapping rate</a:t>
                      </a:r>
                    </a:p>
                  </a:txBody>
                  <a:tcPr marL="9525" marR="9525" marT="9525" marB="0" anchor="b">
                    <a:lnL>
                      <a:noFill/>
                    </a:lnL>
                    <a:lnR>
                      <a:noFill/>
                    </a:lnR>
                    <a:lnT>
                      <a:noFill/>
                    </a:lnT>
                    <a:lnB>
                      <a:noFill/>
                    </a:lnB>
                  </a:tcPr>
                </a:tc>
                <a:tc>
                  <a:txBody>
                    <a:bodyPr/>
                    <a:lstStyle/>
                    <a:p>
                      <a:pPr algn="ctr" fontAlgn="b"/>
                      <a:r>
                        <a:rPr lang="en-US" sz="1400" b="0" i="0" u="none" strike="noStrike" dirty="0">
                          <a:solidFill>
                            <a:srgbClr val="000000"/>
                          </a:solidFill>
                          <a:effectLst/>
                          <a:latin typeface="맑은 고딕" panose="020B0503020000020004" pitchFamily="50" charset="-127"/>
                          <a:ea typeface="맑은 고딕" panose="020B0503020000020004" pitchFamily="50" charset="-127"/>
                        </a:rPr>
                        <a:t>Single-end</a:t>
                      </a:r>
                    </a:p>
                  </a:txBody>
                  <a:tcPr marL="9525" marR="9525" marT="9525" marB="0" anchor="b">
                    <a:lnL>
                      <a:noFill/>
                    </a:lnL>
                    <a:lnR>
                      <a:noFill/>
                    </a:lnR>
                    <a:lnT>
                      <a:noFill/>
                    </a:lnT>
                    <a:lnB>
                      <a:noFill/>
                    </a:lnB>
                  </a:tcPr>
                </a:tc>
                <a:extLst>
                  <a:ext uri="{0D108BD9-81ED-4DB2-BD59-A6C34878D82A}">
                    <a16:rowId xmlns:a16="http://schemas.microsoft.com/office/drawing/2014/main" val="73896870"/>
                  </a:ext>
                </a:extLst>
              </a:tr>
            </a:tbl>
          </a:graphicData>
        </a:graphic>
      </p:graphicFrame>
    </p:spTree>
    <p:extLst>
      <p:ext uri="{BB962C8B-B14F-4D97-AF65-F5344CB8AC3E}">
        <p14:creationId xmlns:p14="http://schemas.microsoft.com/office/powerpoint/2010/main" val="1715194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Get “</a:t>
            </a:r>
            <a:r>
              <a:rPr lang="en-US" dirty="0" err="1"/>
              <a:t>runinfo</a:t>
            </a:r>
            <a:r>
              <a:rPr lang="en-US" dirty="0"/>
              <a:t>”</a:t>
            </a:r>
          </a:p>
        </p:txBody>
      </p:sp>
      <p:sp>
        <p:nvSpPr>
          <p:cNvPr id="3" name="내용 개체 틀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latinLnBrk="0">
              <a:buNone/>
            </a:pPr>
            <a:r>
              <a:rPr lang="en-US" sz="3600" dirty="0" err="1">
                <a:latin typeface="Courier New" panose="02070309020205020404" pitchFamily="49" charset="0"/>
                <a:cs typeface="Courier New" panose="02070309020205020404" pitchFamily="49" charset="0"/>
              </a:rPr>
              <a:t>esearch</a:t>
            </a:r>
            <a:r>
              <a:rPr lang="en-US" sz="3600" dirty="0">
                <a:latin typeface="Courier New" panose="02070309020205020404" pitchFamily="49" charset="0"/>
                <a:cs typeface="Courier New" panose="02070309020205020404" pitchFamily="49" charset="0"/>
              </a:rPr>
              <a:t> -</a:t>
            </a:r>
            <a:r>
              <a:rPr lang="en-US" sz="3600" dirty="0" err="1">
                <a:latin typeface="Courier New" panose="02070309020205020404" pitchFamily="49" charset="0"/>
                <a:cs typeface="Courier New" panose="02070309020205020404" pitchFamily="49" charset="0"/>
              </a:rPr>
              <a:t>db</a:t>
            </a:r>
            <a:r>
              <a:rPr lang="en-US" sz="3600" dirty="0">
                <a:latin typeface="Courier New" panose="02070309020205020404" pitchFamily="49" charset="0"/>
                <a:cs typeface="Courier New" panose="02070309020205020404" pitchFamily="49" charset="0"/>
              </a:rPr>
              <a:t> </a:t>
            </a:r>
            <a:r>
              <a:rPr lang="en-US" sz="3600" dirty="0" err="1">
                <a:latin typeface="Courier New" panose="02070309020205020404" pitchFamily="49" charset="0"/>
                <a:cs typeface="Courier New" panose="02070309020205020404" pitchFamily="49" charset="0"/>
              </a:rPr>
              <a:t>sra</a:t>
            </a:r>
            <a:r>
              <a:rPr lang="en-US" sz="3600" dirty="0">
                <a:latin typeface="Courier New" panose="02070309020205020404" pitchFamily="49" charset="0"/>
                <a:cs typeface="Courier New" panose="02070309020205020404" pitchFamily="49" charset="0"/>
              </a:rPr>
              <a:t> -query PRJNA313294 | </a:t>
            </a:r>
            <a:r>
              <a:rPr lang="en-US" sz="3600" dirty="0" err="1">
                <a:latin typeface="Courier New" panose="02070309020205020404" pitchFamily="49" charset="0"/>
                <a:cs typeface="Courier New" panose="02070309020205020404" pitchFamily="49" charset="0"/>
              </a:rPr>
              <a:t>efetch</a:t>
            </a:r>
            <a:r>
              <a:rPr lang="en-US" sz="3600" dirty="0">
                <a:latin typeface="Courier New" panose="02070309020205020404" pitchFamily="49" charset="0"/>
                <a:cs typeface="Courier New" panose="02070309020205020404" pitchFamily="49" charset="0"/>
              </a:rPr>
              <a:t> -format </a:t>
            </a:r>
            <a:r>
              <a:rPr lang="en-US" sz="3600" dirty="0" err="1">
                <a:latin typeface="Courier New" panose="02070309020205020404" pitchFamily="49" charset="0"/>
                <a:cs typeface="Courier New" panose="02070309020205020404" pitchFamily="49" charset="0"/>
              </a:rPr>
              <a:t>runinfo</a:t>
            </a:r>
            <a:r>
              <a:rPr lang="en-US" sz="3600" dirty="0">
                <a:latin typeface="Courier New" panose="02070309020205020404" pitchFamily="49" charset="0"/>
                <a:cs typeface="Courier New" panose="02070309020205020404" pitchFamily="49" charset="0"/>
              </a:rPr>
              <a:t> &gt; zika.csv</a:t>
            </a:r>
          </a:p>
        </p:txBody>
      </p:sp>
    </p:spTree>
    <p:extLst>
      <p:ext uri="{BB962C8B-B14F-4D97-AF65-F5344CB8AC3E}">
        <p14:creationId xmlns:p14="http://schemas.microsoft.com/office/powerpoint/2010/main" val="1174492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Get the FASTQ files</a:t>
            </a:r>
          </a:p>
        </p:txBody>
      </p:sp>
      <p:pic>
        <p:nvPicPr>
          <p:cNvPr id="4" name="내용 개체 틀 3"/>
          <p:cNvPicPr>
            <a:picLocks noGrp="1" noChangeAspect="1"/>
          </p:cNvPicPr>
          <p:nvPr>
            <p:ph idx="1"/>
          </p:nvPr>
        </p:nvPicPr>
        <p:blipFill>
          <a:blip r:embed="rId2"/>
          <a:stretch>
            <a:fillRect/>
          </a:stretch>
        </p:blipFill>
        <p:spPr>
          <a:xfrm>
            <a:off x="2709862" y="2715419"/>
            <a:ext cx="6772275" cy="2571750"/>
          </a:xfrm>
          <a:prstGeom prst="rect">
            <a:avLst/>
          </a:prstGeom>
        </p:spPr>
      </p:pic>
    </p:spTree>
    <p:extLst>
      <p:ext uri="{BB962C8B-B14F-4D97-AF65-F5344CB8AC3E}">
        <p14:creationId xmlns:p14="http://schemas.microsoft.com/office/powerpoint/2010/main" val="1097547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Get the FASTQ files</a:t>
            </a:r>
            <a:endParaRPr lang="en-US" dirty="0"/>
          </a:p>
        </p:txBody>
      </p:sp>
      <p:sp>
        <p:nvSpPr>
          <p:cNvPr id="3" name="내용 개체 틀 2"/>
          <p:cNvSpPr>
            <a:spLocks noGrp="1"/>
          </p:cNvSpPr>
          <p:nvPr>
            <p:ph idx="1"/>
          </p:nvPr>
        </p:nvSpPr>
        <p:spPr/>
        <p:txBody>
          <a:bodyPr>
            <a:normAutofit fontScale="92500" lnSpcReduction="10000"/>
          </a:bodyPr>
          <a:lstStyle/>
          <a:p>
            <a:pPr marL="0" indent="0">
              <a:buNone/>
            </a:pPr>
            <a:endParaRPr lang="en-US" dirty="0"/>
          </a:p>
          <a:p>
            <a:pPr marL="0" indent="0">
              <a:buNone/>
            </a:pPr>
            <a:endParaRPr lang="en-US" dirty="0"/>
          </a:p>
          <a:p>
            <a:pPr marL="0" indent="0" latinLnBrk="0">
              <a:buNone/>
            </a:pPr>
            <a:r>
              <a:rPr lang="en-US" sz="3200" dirty="0">
                <a:latin typeface="Courier New" panose="02070309020205020404" pitchFamily="49" charset="0"/>
                <a:cs typeface="Courier New" panose="02070309020205020404" pitchFamily="49" charset="0"/>
              </a:rPr>
              <a:t>cat zika.csv | cut -f 1 -d , | </a:t>
            </a:r>
            <a:r>
              <a:rPr lang="en-US" sz="3200" dirty="0" err="1">
                <a:latin typeface="Courier New" panose="02070309020205020404" pitchFamily="49" charset="0"/>
                <a:cs typeface="Courier New" panose="02070309020205020404" pitchFamily="49" charset="0"/>
              </a:rPr>
              <a:t>grep</a:t>
            </a:r>
            <a:r>
              <a:rPr lang="en-US" sz="3200" dirty="0">
                <a:latin typeface="Courier New" panose="02070309020205020404" pitchFamily="49" charset="0"/>
                <a:cs typeface="Courier New" panose="02070309020205020404" pitchFamily="49" charset="0"/>
              </a:rPr>
              <a:t> “SRR*” | </a:t>
            </a:r>
            <a:r>
              <a:rPr lang="en-US" sz="3200" dirty="0" err="1">
                <a:latin typeface="Courier New" panose="02070309020205020404" pitchFamily="49" charset="0"/>
                <a:cs typeface="Courier New" panose="02070309020205020404" pitchFamily="49" charset="0"/>
              </a:rPr>
              <a:t>xargs</a:t>
            </a:r>
            <a:r>
              <a:rPr lang="en-US" sz="3200" dirty="0">
                <a:latin typeface="Courier New" panose="02070309020205020404" pitchFamily="49" charset="0"/>
                <a:cs typeface="Courier New" panose="02070309020205020404" pitchFamily="49" charset="0"/>
              </a:rPr>
              <a:t> -n 1 </a:t>
            </a:r>
            <a:r>
              <a:rPr lang="en-US" sz="3200" dirty="0" err="1">
                <a:latin typeface="Courier New" panose="02070309020205020404" pitchFamily="49" charset="0"/>
                <a:cs typeface="Courier New" panose="02070309020205020404" pitchFamily="49" charset="0"/>
              </a:rPr>
              <a:t>fastq</a:t>
            </a:r>
            <a:r>
              <a:rPr lang="en-US" sz="3200" dirty="0">
                <a:latin typeface="Courier New" panose="02070309020205020404" pitchFamily="49" charset="0"/>
                <a:cs typeface="Courier New" panose="02070309020205020404" pitchFamily="49" charset="0"/>
              </a:rPr>
              <a:t>-dump --split-files</a:t>
            </a:r>
          </a:p>
          <a:p>
            <a:pPr marL="0" indent="0" latinLnBrk="0">
              <a:buNone/>
            </a:pPr>
            <a:endParaRPr lang="en-US" sz="3200" dirty="0">
              <a:latin typeface="Courier New" panose="02070309020205020404" pitchFamily="49" charset="0"/>
              <a:cs typeface="Courier New" panose="02070309020205020404" pitchFamily="49" charset="0"/>
            </a:endParaRPr>
          </a:p>
          <a:p>
            <a:pPr marL="0" indent="0" latinLnBrk="0">
              <a:buNone/>
            </a:pPr>
            <a:r>
              <a:rPr lang="en-US" sz="3200" dirty="0">
                <a:cs typeface="Courier New" panose="02070309020205020404" pitchFamily="49" charset="0"/>
              </a:rPr>
              <a:t>Or</a:t>
            </a:r>
          </a:p>
          <a:p>
            <a:pPr marL="0" indent="0" latinLnBrk="0">
              <a:buNone/>
            </a:pPr>
            <a:endParaRPr lang="en-US" sz="3200" dirty="0">
              <a:latin typeface="Courier New" panose="02070309020205020404" pitchFamily="49" charset="0"/>
              <a:cs typeface="Courier New" panose="02070309020205020404" pitchFamily="49" charset="0"/>
            </a:endParaRPr>
          </a:p>
          <a:p>
            <a:pPr marL="0" indent="0" latinLnBrk="0">
              <a:buNone/>
            </a:pPr>
            <a:r>
              <a:rPr lang="en-US" altLang="ko-KR" sz="3200" dirty="0">
                <a:latin typeface="Courier New" panose="02070309020205020404" pitchFamily="49" charset="0"/>
                <a:cs typeface="Courier New" panose="02070309020205020404" pitchFamily="49" charset="0"/>
              </a:rPr>
              <a:t>cat zika.csv | cut –f 1 –d , | grep “SRR*” | </a:t>
            </a:r>
            <a:r>
              <a:rPr lang="en-US" altLang="ko-KR" sz="3200" dirty="0" err="1">
                <a:latin typeface="Courier New" panose="02070309020205020404" pitchFamily="49" charset="0"/>
                <a:cs typeface="Courier New" panose="02070309020205020404" pitchFamily="49" charset="0"/>
              </a:rPr>
              <a:t>xargs</a:t>
            </a:r>
            <a:r>
              <a:rPr lang="en-US" altLang="ko-KR" sz="3200" dirty="0">
                <a:latin typeface="Courier New" panose="02070309020205020404" pitchFamily="49" charset="0"/>
                <a:cs typeface="Courier New" panose="02070309020205020404" pitchFamily="49" charset="0"/>
              </a:rPr>
              <a:t> –n 1 </a:t>
            </a:r>
            <a:r>
              <a:rPr lang="en-US" altLang="ko-KR" sz="3200" dirty="0" err="1">
                <a:latin typeface="Courier New" panose="02070309020205020404" pitchFamily="49" charset="0"/>
                <a:cs typeface="Courier New" panose="02070309020205020404" pitchFamily="49" charset="0"/>
              </a:rPr>
              <a:t>fastq</a:t>
            </a:r>
            <a:r>
              <a:rPr lang="en-US" altLang="ko-KR" sz="3200" dirty="0">
                <a:latin typeface="Courier New" panose="02070309020205020404" pitchFamily="49" charset="0"/>
                <a:cs typeface="Courier New" panose="02070309020205020404" pitchFamily="49" charset="0"/>
              </a:rPr>
              <a:t>-dump –split-files –-</a:t>
            </a:r>
            <a:r>
              <a:rPr lang="en-US" altLang="ko-KR" sz="3200" dirty="0" err="1">
                <a:latin typeface="Courier New" panose="02070309020205020404" pitchFamily="49" charset="0"/>
                <a:cs typeface="Courier New" panose="02070309020205020404" pitchFamily="49" charset="0"/>
              </a:rPr>
              <a:t>gzip</a:t>
            </a:r>
            <a:endParaRPr lang="en-US" altLang="ko-KR" sz="3200" dirty="0">
              <a:latin typeface="Courier New" panose="02070309020205020404" pitchFamily="49" charset="0"/>
              <a:cs typeface="Courier New" panose="02070309020205020404" pitchFamily="49" charset="0"/>
            </a:endParaRPr>
          </a:p>
          <a:p>
            <a:pPr marL="0" indent="0" latinLnBrk="0">
              <a:buNone/>
            </a:pPr>
            <a:endParaRPr lang="en-US" sz="3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87586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Get the FASTQ files</a:t>
            </a:r>
            <a:endParaRPr lang="en-US" dirty="0"/>
          </a:p>
        </p:txBody>
      </p:sp>
      <p:pic>
        <p:nvPicPr>
          <p:cNvPr id="4" name="내용 개체 틀 3"/>
          <p:cNvPicPr>
            <a:picLocks noGrp="1" noChangeAspect="1"/>
          </p:cNvPicPr>
          <p:nvPr>
            <p:ph idx="1"/>
          </p:nvPr>
        </p:nvPicPr>
        <p:blipFill>
          <a:blip r:embed="rId2"/>
          <a:stretch>
            <a:fillRect/>
          </a:stretch>
        </p:blipFill>
        <p:spPr>
          <a:xfrm>
            <a:off x="2100520" y="2543454"/>
            <a:ext cx="8201025" cy="2495550"/>
          </a:xfrm>
          <a:prstGeom prst="rect">
            <a:avLst/>
          </a:prstGeom>
        </p:spPr>
      </p:pic>
    </p:spTree>
    <p:extLst>
      <p:ext uri="{BB962C8B-B14F-4D97-AF65-F5344CB8AC3E}">
        <p14:creationId xmlns:p14="http://schemas.microsoft.com/office/powerpoint/2010/main" val="723742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Get the FASTQ files</a:t>
            </a:r>
            <a:endParaRPr lang="en-US" dirty="0"/>
          </a:p>
        </p:txBody>
      </p:sp>
      <p:pic>
        <p:nvPicPr>
          <p:cNvPr id="5" name="그림 4"/>
          <p:cNvPicPr>
            <a:picLocks noChangeAspect="1"/>
          </p:cNvPicPr>
          <p:nvPr/>
        </p:nvPicPr>
        <p:blipFill>
          <a:blip r:embed="rId2"/>
          <a:stretch>
            <a:fillRect/>
          </a:stretch>
        </p:blipFill>
        <p:spPr>
          <a:xfrm>
            <a:off x="1078301" y="1771739"/>
            <a:ext cx="9506309" cy="4403034"/>
          </a:xfrm>
          <a:prstGeom prst="rect">
            <a:avLst/>
          </a:prstGeom>
          <a:effectLst>
            <a:glow rad="101600">
              <a:schemeClr val="accent3">
                <a:satMod val="175000"/>
                <a:alpha val="40000"/>
              </a:schemeClr>
            </a:glow>
          </a:effectLst>
        </p:spPr>
      </p:pic>
    </p:spTree>
    <p:extLst>
      <p:ext uri="{BB962C8B-B14F-4D97-AF65-F5344CB8AC3E}">
        <p14:creationId xmlns:p14="http://schemas.microsoft.com/office/powerpoint/2010/main" val="2408699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QC</a:t>
            </a:r>
          </a:p>
        </p:txBody>
      </p:sp>
      <p:sp>
        <p:nvSpPr>
          <p:cNvPr id="3" name="텍스트 개체 틀 2"/>
          <p:cNvSpPr>
            <a:spLocks noGrp="1"/>
          </p:cNvSpPr>
          <p:nvPr>
            <p:ph type="body" idx="1"/>
          </p:nvPr>
        </p:nvSpPr>
        <p:spPr/>
        <p:txBody>
          <a:bodyPr/>
          <a:lstStyle/>
          <a:p>
            <a:endParaRPr lang="en-US"/>
          </a:p>
        </p:txBody>
      </p:sp>
    </p:spTree>
    <p:extLst>
      <p:ext uri="{BB962C8B-B14F-4D97-AF65-F5344CB8AC3E}">
        <p14:creationId xmlns:p14="http://schemas.microsoft.com/office/powerpoint/2010/main" val="2200153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QC: </a:t>
            </a:r>
            <a:r>
              <a:rPr lang="en-US" dirty="0" err="1"/>
              <a:t>FastQC</a:t>
            </a:r>
            <a:endParaRPr lang="en-US" dirty="0"/>
          </a:p>
        </p:txBody>
      </p:sp>
      <p:pic>
        <p:nvPicPr>
          <p:cNvPr id="4" name="내용 개체 틀 3"/>
          <p:cNvPicPr>
            <a:picLocks noGrp="1" noChangeAspect="1"/>
          </p:cNvPicPr>
          <p:nvPr>
            <p:ph idx="1"/>
          </p:nvPr>
        </p:nvPicPr>
        <p:blipFill>
          <a:blip r:embed="rId2"/>
          <a:stretch>
            <a:fillRect/>
          </a:stretch>
        </p:blipFill>
        <p:spPr>
          <a:xfrm>
            <a:off x="838200" y="1832770"/>
            <a:ext cx="10515600" cy="4337047"/>
          </a:xfrm>
          <a:prstGeom prst="rect">
            <a:avLst/>
          </a:prstGeom>
        </p:spPr>
      </p:pic>
      <p:sp>
        <p:nvSpPr>
          <p:cNvPr id="5" name="직사각형 4"/>
          <p:cNvSpPr/>
          <p:nvPr/>
        </p:nvSpPr>
        <p:spPr>
          <a:xfrm>
            <a:off x="5780903" y="6488668"/>
            <a:ext cx="6411097" cy="369332"/>
          </a:xfrm>
          <a:prstGeom prst="rect">
            <a:avLst/>
          </a:prstGeom>
        </p:spPr>
        <p:txBody>
          <a:bodyPr wrap="square">
            <a:spAutoFit/>
          </a:bodyPr>
          <a:lstStyle/>
          <a:p>
            <a:r>
              <a:rPr lang="en-US" altLang="ko-KR" dirty="0"/>
              <a:t>https://www.bioinformatics.babraham.ac.uk/projects/fastqc/</a:t>
            </a:r>
            <a:endParaRPr lang="en-US" dirty="0"/>
          </a:p>
        </p:txBody>
      </p:sp>
    </p:spTree>
    <p:extLst>
      <p:ext uri="{BB962C8B-B14F-4D97-AF65-F5344CB8AC3E}">
        <p14:creationId xmlns:p14="http://schemas.microsoft.com/office/powerpoint/2010/main" val="3855909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a:t>FastQC</a:t>
            </a:r>
            <a:endParaRPr lang="en-US" dirty="0"/>
          </a:p>
        </p:txBody>
      </p:sp>
      <p:sp>
        <p:nvSpPr>
          <p:cNvPr id="3" name="내용 개체 틀 2"/>
          <p:cNvSpPr>
            <a:spLocks noGrp="1"/>
          </p:cNvSpPr>
          <p:nvPr>
            <p:ph idx="1"/>
          </p:nvPr>
        </p:nvSpPr>
        <p:spPr/>
        <p:txBody>
          <a:bodyPr>
            <a:normAutofit lnSpcReduction="10000"/>
          </a:bodyPr>
          <a:lstStyle/>
          <a:p>
            <a:r>
              <a:rPr lang="en-US" dirty="0"/>
              <a:t>A de-facto standard of visualization for QC</a:t>
            </a:r>
          </a:p>
          <a:p>
            <a:endParaRPr lang="en-US" dirty="0"/>
          </a:p>
          <a:p>
            <a:r>
              <a:rPr lang="en-US" dirty="0"/>
              <a:t>Easy to run (requires only Java)</a:t>
            </a:r>
          </a:p>
          <a:p>
            <a:endParaRPr lang="en-US" dirty="0"/>
          </a:p>
          <a:p>
            <a:r>
              <a:rPr lang="en-US" dirty="0"/>
              <a:t>Produce an HTML output file for each FASTQ file</a:t>
            </a:r>
          </a:p>
          <a:p>
            <a:endParaRPr lang="en-US" dirty="0"/>
          </a:p>
          <a:p>
            <a:r>
              <a:rPr lang="en-US" dirty="0"/>
              <a:t>Does not perform QC, only visualizes the quality of the data</a:t>
            </a:r>
          </a:p>
          <a:p>
            <a:endParaRPr lang="en-US" dirty="0"/>
          </a:p>
          <a:p>
            <a:r>
              <a:rPr lang="en-US" dirty="0"/>
              <a:t>Not suitable for a large dataset</a:t>
            </a:r>
          </a:p>
        </p:txBody>
      </p:sp>
    </p:spTree>
    <p:extLst>
      <p:ext uri="{BB962C8B-B14F-4D97-AF65-F5344CB8AC3E}">
        <p14:creationId xmlns:p14="http://schemas.microsoft.com/office/powerpoint/2010/main" val="2370202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How do we run </a:t>
            </a:r>
            <a:r>
              <a:rPr lang="en-US" altLang="ko-KR" dirty="0" err="1"/>
              <a:t>FastQC</a:t>
            </a:r>
            <a:r>
              <a:rPr lang="en-US" altLang="ko-KR" dirty="0"/>
              <a:t>?</a:t>
            </a:r>
            <a:endParaRPr lang="en-US" dirty="0"/>
          </a:p>
        </p:txBody>
      </p:sp>
      <p:sp>
        <p:nvSpPr>
          <p:cNvPr id="3" name="내용 개체 틀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latinLnBrk="0">
              <a:buNone/>
            </a:pPr>
            <a:r>
              <a:rPr lang="en-US" altLang="ko-KR" sz="2400" dirty="0" err="1" smtClean="0">
                <a:latin typeface="Courier New" panose="02070309020205020404" pitchFamily="49" charset="0"/>
                <a:cs typeface="Courier New" panose="02070309020205020404" pitchFamily="49" charset="0"/>
              </a:rPr>
              <a:t>f</a:t>
            </a:r>
            <a:r>
              <a:rPr lang="en-US" sz="2400" dirty="0" err="1" smtClean="0">
                <a:latin typeface="Courier New" panose="02070309020205020404" pitchFamily="49" charset="0"/>
                <a:cs typeface="Courier New" panose="02070309020205020404" pitchFamily="49" charset="0"/>
              </a:rPr>
              <a:t>astqc</a:t>
            </a:r>
            <a:r>
              <a:rPr lang="en-US" sz="2400" dirty="0" smtClean="0">
                <a:latin typeface="Courier New" panose="02070309020205020404" pitchFamily="49" charset="0"/>
                <a:cs typeface="Courier New" panose="02070309020205020404" pitchFamily="49" charset="0"/>
              </a:rPr>
              <a:t> </a:t>
            </a:r>
            <a:r>
              <a:rPr lang="en-US" altLang="ko-KR" sz="2400" dirty="0" smtClean="0">
                <a:latin typeface="Courier New" panose="02070309020205020404" pitchFamily="49" charset="0"/>
                <a:cs typeface="Courier New" panose="02070309020205020404" pitchFamily="49" charset="0"/>
              </a:rPr>
              <a:t>–o .</a:t>
            </a:r>
            <a:r>
              <a:rPr lang="en-US" sz="2400" dirty="0" smtClean="0">
                <a:latin typeface="Courier New" panose="02070309020205020404" pitchFamily="49" charset="0"/>
                <a:cs typeface="Courier New" panose="02070309020205020404" pitchFamily="49" charset="0"/>
              </a:rPr>
              <a:t> </a:t>
            </a:r>
            <a:r>
              <a:rPr lang="en-US" altLang="ko-KR" sz="2400" dirty="0" smtClean="0">
                <a:latin typeface="Courier New" panose="02070309020205020404" pitchFamily="49" charset="0"/>
                <a:cs typeface="Courier New" panose="02070309020205020404" pitchFamily="49" charset="0"/>
              </a:rPr>
              <a:t>/home/Data/</a:t>
            </a:r>
            <a:r>
              <a:rPr lang="en-US" altLang="ko-KR" sz="2400" dirty="0" err="1" smtClean="0">
                <a:latin typeface="Courier New" panose="02070309020205020404" pitchFamily="49" charset="0"/>
                <a:cs typeface="Courier New" panose="02070309020205020404" pitchFamily="49" charset="0"/>
              </a:rPr>
              <a:t>zika</a:t>
            </a:r>
            <a:r>
              <a:rPr lang="en-US" altLang="ko-KR" sz="2400" dirty="0" smtClean="0">
                <a:latin typeface="Courier New" panose="02070309020205020404" pitchFamily="49" charset="0"/>
                <a:cs typeface="Courier New" panose="02070309020205020404" pitchFamily="49" charset="0"/>
              </a:rPr>
              <a:t>/</a:t>
            </a:r>
            <a:r>
              <a:rPr lang="en-US" sz="2400" dirty="0" smtClean="0">
                <a:latin typeface="Courier New" panose="02070309020205020404" pitchFamily="49" charset="0"/>
                <a:cs typeface="Courier New" panose="02070309020205020404" pitchFamily="49" charset="0"/>
              </a:rPr>
              <a:t>SRR3191542_1.fastq</a:t>
            </a:r>
            <a:r>
              <a:rPr lang="en-US" altLang="ko-KR" sz="2400" dirty="0" smtClean="0">
                <a:latin typeface="Courier New" panose="02070309020205020404" pitchFamily="49" charset="0"/>
                <a:cs typeface="Courier New" panose="02070309020205020404" pitchFamily="49" charset="0"/>
              </a:rPr>
              <a:t>.gz</a:t>
            </a: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72364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Basic Statistics</a:t>
            </a:r>
          </a:p>
        </p:txBody>
      </p:sp>
      <p:pic>
        <p:nvPicPr>
          <p:cNvPr id="4" name="내용 개체 틀 3"/>
          <p:cNvPicPr>
            <a:picLocks noGrp="1" noChangeAspect="1"/>
          </p:cNvPicPr>
          <p:nvPr>
            <p:ph idx="1"/>
          </p:nvPr>
        </p:nvPicPr>
        <p:blipFill>
          <a:blip r:embed="rId2"/>
          <a:stretch>
            <a:fillRect/>
          </a:stretch>
        </p:blipFill>
        <p:spPr>
          <a:xfrm>
            <a:off x="3419475" y="2439194"/>
            <a:ext cx="5353050" cy="3124200"/>
          </a:xfrm>
          <a:prstGeom prst="rect">
            <a:avLst/>
          </a:prstGeom>
        </p:spPr>
      </p:pic>
    </p:spTree>
    <p:extLst>
      <p:ext uri="{BB962C8B-B14F-4D97-AF65-F5344CB8AC3E}">
        <p14:creationId xmlns:p14="http://schemas.microsoft.com/office/powerpoint/2010/main" val="2038301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Per base sequence quality</a:t>
            </a:r>
          </a:p>
        </p:txBody>
      </p:sp>
      <p:pic>
        <p:nvPicPr>
          <p:cNvPr id="4" name="내용 개체 틀 3"/>
          <p:cNvPicPr>
            <a:picLocks noGrp="1" noChangeAspect="1"/>
          </p:cNvPicPr>
          <p:nvPr>
            <p:ph idx="1"/>
          </p:nvPr>
        </p:nvPicPr>
        <p:blipFill>
          <a:blip r:embed="rId2"/>
          <a:stretch>
            <a:fillRect/>
          </a:stretch>
        </p:blipFill>
        <p:spPr>
          <a:xfrm>
            <a:off x="3256456" y="1825625"/>
            <a:ext cx="5679087" cy="4351338"/>
          </a:xfrm>
          <a:prstGeom prst="rect">
            <a:avLst/>
          </a:prstGeom>
        </p:spPr>
      </p:pic>
    </p:spTree>
    <p:extLst>
      <p:ext uri="{BB962C8B-B14F-4D97-AF65-F5344CB8AC3E}">
        <p14:creationId xmlns:p14="http://schemas.microsoft.com/office/powerpoint/2010/main" val="2326782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Per base sequence quality</a:t>
            </a:r>
            <a:endParaRPr lang="en-US" dirty="0"/>
          </a:p>
        </p:txBody>
      </p:sp>
      <p:sp>
        <p:nvSpPr>
          <p:cNvPr id="3" name="내용 개체 틀 2"/>
          <p:cNvSpPr>
            <a:spLocks noGrp="1"/>
          </p:cNvSpPr>
          <p:nvPr>
            <p:ph idx="1"/>
          </p:nvPr>
        </p:nvSpPr>
        <p:spPr/>
        <p:txBody>
          <a:bodyPr/>
          <a:lstStyle/>
          <a:p>
            <a:r>
              <a:rPr lang="en-US" dirty="0"/>
              <a:t>FASTQ </a:t>
            </a:r>
            <a:r>
              <a:rPr lang="en-US" dirty="0" err="1"/>
              <a:t>Phred</a:t>
            </a:r>
            <a:r>
              <a:rPr lang="en-US" dirty="0"/>
              <a:t> quality score</a:t>
            </a:r>
          </a:p>
          <a:p>
            <a:pPr lvl="1"/>
            <a:r>
              <a:rPr lang="en-US" dirty="0"/>
              <a:t>10 = 10% error</a:t>
            </a:r>
          </a:p>
          <a:p>
            <a:pPr lvl="1"/>
            <a:r>
              <a:rPr lang="en-US" dirty="0"/>
              <a:t>20 = 1% error</a:t>
            </a:r>
          </a:p>
          <a:p>
            <a:pPr lvl="1"/>
            <a:r>
              <a:rPr lang="en-US" dirty="0"/>
              <a:t>30 = 0.1% error</a:t>
            </a:r>
          </a:p>
          <a:p>
            <a:pPr lvl="1"/>
            <a:r>
              <a:rPr lang="en-US" dirty="0"/>
              <a:t>40 = 0.01% error</a:t>
            </a:r>
          </a:p>
          <a:p>
            <a:pPr lvl="1"/>
            <a:endParaRPr lang="en-US" dirty="0"/>
          </a:p>
          <a:p>
            <a:r>
              <a:rPr lang="en-US" dirty="0"/>
              <a:t>Reliable (green), less reliable (yellow), error prone (red)</a:t>
            </a:r>
          </a:p>
        </p:txBody>
      </p:sp>
    </p:spTree>
    <p:extLst>
      <p:ext uri="{BB962C8B-B14F-4D97-AF65-F5344CB8AC3E}">
        <p14:creationId xmlns:p14="http://schemas.microsoft.com/office/powerpoint/2010/main" val="925986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Per sequence quality scores</a:t>
            </a:r>
          </a:p>
        </p:txBody>
      </p:sp>
      <p:pic>
        <p:nvPicPr>
          <p:cNvPr id="4" name="내용 개체 틀 3"/>
          <p:cNvPicPr>
            <a:picLocks noGrp="1" noChangeAspect="1"/>
          </p:cNvPicPr>
          <p:nvPr>
            <p:ph idx="1"/>
          </p:nvPr>
        </p:nvPicPr>
        <p:blipFill>
          <a:blip r:embed="rId2"/>
          <a:stretch>
            <a:fillRect/>
          </a:stretch>
        </p:blipFill>
        <p:spPr>
          <a:xfrm>
            <a:off x="3233278" y="1825625"/>
            <a:ext cx="5725444" cy="4351338"/>
          </a:xfrm>
          <a:prstGeom prst="rect">
            <a:avLst/>
          </a:prstGeom>
        </p:spPr>
      </p:pic>
    </p:spTree>
    <p:extLst>
      <p:ext uri="{BB962C8B-B14F-4D97-AF65-F5344CB8AC3E}">
        <p14:creationId xmlns:p14="http://schemas.microsoft.com/office/powerpoint/2010/main" val="3281949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Per base sequence content</a:t>
            </a:r>
          </a:p>
        </p:txBody>
      </p:sp>
      <p:pic>
        <p:nvPicPr>
          <p:cNvPr id="4" name="내용 개체 틀 3"/>
          <p:cNvPicPr>
            <a:picLocks noGrp="1" noChangeAspect="1"/>
          </p:cNvPicPr>
          <p:nvPr>
            <p:ph idx="1"/>
          </p:nvPr>
        </p:nvPicPr>
        <p:blipFill>
          <a:blip r:embed="rId2"/>
          <a:stretch>
            <a:fillRect/>
          </a:stretch>
        </p:blipFill>
        <p:spPr>
          <a:xfrm>
            <a:off x="3172862" y="1825625"/>
            <a:ext cx="5846276" cy="4351338"/>
          </a:xfrm>
          <a:prstGeom prst="rect">
            <a:avLst/>
          </a:prstGeom>
        </p:spPr>
      </p:pic>
    </p:spTree>
    <p:extLst>
      <p:ext uri="{BB962C8B-B14F-4D97-AF65-F5344CB8AC3E}">
        <p14:creationId xmlns:p14="http://schemas.microsoft.com/office/powerpoint/2010/main" val="1036945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0484C7-1D31-4EC6-AFBE-B9FB37893296}"/>
              </a:ext>
            </a:extLst>
          </p:cNvPr>
          <p:cNvSpPr>
            <a:spLocks noGrp="1"/>
          </p:cNvSpPr>
          <p:nvPr>
            <p:ph type="title"/>
          </p:nvPr>
        </p:nvSpPr>
        <p:spPr/>
        <p:txBody>
          <a:bodyPr/>
          <a:lstStyle/>
          <a:p>
            <a:r>
              <a:rPr lang="en-US" altLang="ko-KR" dirty="0"/>
              <a:t>Per base sequence content</a:t>
            </a:r>
            <a:endParaRPr lang="ko-KR" altLang="en-US" dirty="0"/>
          </a:p>
        </p:txBody>
      </p:sp>
      <p:sp>
        <p:nvSpPr>
          <p:cNvPr id="3" name="직사각형 2">
            <a:extLst>
              <a:ext uri="{FF2B5EF4-FFF2-40B4-BE49-F238E27FC236}">
                <a16:creationId xmlns:a16="http://schemas.microsoft.com/office/drawing/2014/main" id="{DA191A7A-6DCC-43E5-9FEE-FBC71E625E93}"/>
              </a:ext>
            </a:extLst>
          </p:cNvPr>
          <p:cNvSpPr/>
          <p:nvPr/>
        </p:nvSpPr>
        <p:spPr>
          <a:xfrm>
            <a:off x="301841" y="1589103"/>
            <a:ext cx="11620870" cy="4524315"/>
          </a:xfrm>
          <a:prstGeom prst="rect">
            <a:avLst/>
          </a:prstGeom>
        </p:spPr>
        <p:txBody>
          <a:bodyPr wrap="square">
            <a:spAutoFit/>
          </a:bodyPr>
          <a:lstStyle/>
          <a:p>
            <a:pPr marL="342900" indent="-342900">
              <a:buFont typeface="Arial" panose="020B0604020202020204" pitchFamily="34" charset="0"/>
              <a:buChar char="•"/>
            </a:pPr>
            <a:r>
              <a:rPr lang="en-US" altLang="ko-KR" sz="2400" dirty="0">
                <a:solidFill>
                  <a:srgbClr val="000000"/>
                </a:solidFill>
                <a:latin typeface="Arial" panose="020B0604020202020204" pitchFamily="34" charset="0"/>
              </a:rPr>
              <a:t>In a random library we would expect that there would be little to no difference between the different bases of a sequence run, so the lines in this plot should run parallel with each other. </a:t>
            </a:r>
          </a:p>
          <a:p>
            <a:pPr marL="342900" indent="-342900">
              <a:buFont typeface="Arial" panose="020B0604020202020204" pitchFamily="34" charset="0"/>
              <a:buChar char="•"/>
            </a:pPr>
            <a:endParaRPr lang="en-US" altLang="ko-KR" sz="2400" dirty="0">
              <a:solidFill>
                <a:srgbClr val="000000"/>
              </a:solidFill>
              <a:latin typeface="Arial" panose="020B0604020202020204" pitchFamily="34" charset="0"/>
            </a:endParaRPr>
          </a:p>
          <a:p>
            <a:pPr marL="342900" indent="-342900">
              <a:buFont typeface="Arial" panose="020B0604020202020204" pitchFamily="34" charset="0"/>
              <a:buChar char="•"/>
            </a:pPr>
            <a:r>
              <a:rPr lang="en-US" altLang="ko-KR" sz="2400" dirty="0">
                <a:solidFill>
                  <a:srgbClr val="000000"/>
                </a:solidFill>
                <a:latin typeface="Arial" panose="020B0604020202020204" pitchFamily="34" charset="0"/>
              </a:rPr>
              <a:t>It's worth noting that some types of library will always produce biased sequence composition, normally at the start of the read.</a:t>
            </a:r>
          </a:p>
          <a:p>
            <a:pPr marL="342900" indent="-342900">
              <a:buFont typeface="Arial" panose="020B0604020202020204" pitchFamily="34" charset="0"/>
              <a:buChar char="•"/>
            </a:pPr>
            <a:endParaRPr lang="en-US" altLang="ko-KR" sz="2400" dirty="0">
              <a:solidFill>
                <a:srgbClr val="000000"/>
              </a:solidFill>
              <a:latin typeface="Arial" panose="020B0604020202020204" pitchFamily="34" charset="0"/>
            </a:endParaRPr>
          </a:p>
          <a:p>
            <a:pPr marL="342900" indent="-342900">
              <a:buFont typeface="Arial" panose="020B0604020202020204" pitchFamily="34" charset="0"/>
              <a:buChar char="•"/>
            </a:pPr>
            <a:r>
              <a:rPr lang="en-US" altLang="ko-KR" sz="2400" dirty="0">
                <a:solidFill>
                  <a:srgbClr val="000000"/>
                </a:solidFill>
                <a:latin typeface="Arial" panose="020B0604020202020204" pitchFamily="34" charset="0"/>
              </a:rPr>
              <a:t> Libraries produced by priming using random hexamers (including nearly all RNA-Seq libraries) and those which were fragmented using transposases inherit an intrinsic bias in the positions at which reads start. This bias does not concern an absolute sequence, but instead provides enrichment of a number of different K-</a:t>
            </a:r>
            <a:r>
              <a:rPr lang="en-US" altLang="ko-KR" sz="2400" dirty="0" err="1">
                <a:solidFill>
                  <a:srgbClr val="000000"/>
                </a:solidFill>
                <a:latin typeface="Arial" panose="020B0604020202020204" pitchFamily="34" charset="0"/>
              </a:rPr>
              <a:t>mers</a:t>
            </a:r>
            <a:r>
              <a:rPr lang="en-US" altLang="ko-KR" sz="2400" dirty="0">
                <a:solidFill>
                  <a:srgbClr val="000000"/>
                </a:solidFill>
                <a:latin typeface="Arial" panose="020B0604020202020204" pitchFamily="34" charset="0"/>
              </a:rPr>
              <a:t> at the 5' end of the reads. </a:t>
            </a:r>
            <a:endParaRPr lang="en-US" altLang="ko-KR" sz="24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993240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Per sequence GC content</a:t>
            </a:r>
          </a:p>
        </p:txBody>
      </p:sp>
      <p:pic>
        <p:nvPicPr>
          <p:cNvPr id="4" name="내용 개체 틀 3"/>
          <p:cNvPicPr>
            <a:picLocks noGrp="1" noChangeAspect="1"/>
          </p:cNvPicPr>
          <p:nvPr>
            <p:ph idx="1"/>
          </p:nvPr>
        </p:nvPicPr>
        <p:blipFill>
          <a:blip r:embed="rId2"/>
          <a:stretch>
            <a:fillRect/>
          </a:stretch>
        </p:blipFill>
        <p:spPr>
          <a:xfrm>
            <a:off x="349325" y="1870014"/>
            <a:ext cx="5746675" cy="4351338"/>
          </a:xfrm>
          <a:prstGeom prst="rect">
            <a:avLst/>
          </a:prstGeom>
        </p:spPr>
      </p:pic>
      <p:sp>
        <p:nvSpPr>
          <p:cNvPr id="3" name="직사각형 2">
            <a:extLst>
              <a:ext uri="{FF2B5EF4-FFF2-40B4-BE49-F238E27FC236}">
                <a16:creationId xmlns:a16="http://schemas.microsoft.com/office/drawing/2014/main" id="{5F40061B-BA95-43B0-A5A6-7D063923D0A6}"/>
              </a:ext>
            </a:extLst>
          </p:cNvPr>
          <p:cNvSpPr/>
          <p:nvPr/>
        </p:nvSpPr>
        <p:spPr>
          <a:xfrm>
            <a:off x="6294268" y="2413337"/>
            <a:ext cx="5317724" cy="2585323"/>
          </a:xfrm>
          <a:prstGeom prst="rect">
            <a:avLst/>
          </a:prstGeom>
        </p:spPr>
        <p:txBody>
          <a:bodyPr wrap="square">
            <a:spAutoFit/>
          </a:bodyPr>
          <a:lstStyle/>
          <a:p>
            <a:r>
              <a:rPr lang="en-US" altLang="ko-KR" dirty="0">
                <a:solidFill>
                  <a:srgbClr val="000000"/>
                </a:solidFill>
                <a:latin typeface="Arial" panose="020B0604020202020204" pitchFamily="34" charset="0"/>
              </a:rPr>
              <a:t>In a normal random library we would expect to see a roughly normal distribution of GC content where the central peak corresponds to the overall GC content of the underlying genome.</a:t>
            </a:r>
          </a:p>
          <a:p>
            <a:endParaRPr lang="en-US" altLang="ko-KR" dirty="0">
              <a:solidFill>
                <a:srgbClr val="000000"/>
              </a:solidFill>
              <a:latin typeface="Arial" panose="020B0604020202020204" pitchFamily="34" charset="0"/>
            </a:endParaRPr>
          </a:p>
          <a:p>
            <a:r>
              <a:rPr lang="en-US" altLang="ko-KR" dirty="0">
                <a:solidFill>
                  <a:srgbClr val="000000"/>
                </a:solidFill>
                <a:latin typeface="Arial" panose="020B0604020202020204" pitchFamily="34" charset="0"/>
              </a:rPr>
              <a:t>Since we don't know the GC content of the genome the modal GC content is calculated from the observed data and used to build a reference distribution.</a:t>
            </a:r>
            <a:endParaRPr lang="ko-KR" altLang="en-US" dirty="0"/>
          </a:p>
        </p:txBody>
      </p:sp>
    </p:spTree>
    <p:extLst>
      <p:ext uri="{BB962C8B-B14F-4D97-AF65-F5344CB8AC3E}">
        <p14:creationId xmlns:p14="http://schemas.microsoft.com/office/powerpoint/2010/main" val="2160157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Per base N content</a:t>
            </a:r>
          </a:p>
        </p:txBody>
      </p:sp>
      <p:pic>
        <p:nvPicPr>
          <p:cNvPr id="4" name="내용 개체 틀 3"/>
          <p:cNvPicPr>
            <a:picLocks noGrp="1" noChangeAspect="1"/>
          </p:cNvPicPr>
          <p:nvPr>
            <p:ph idx="1"/>
          </p:nvPr>
        </p:nvPicPr>
        <p:blipFill>
          <a:blip r:embed="rId2"/>
          <a:stretch>
            <a:fillRect/>
          </a:stretch>
        </p:blipFill>
        <p:spPr>
          <a:xfrm>
            <a:off x="3150684" y="1825625"/>
            <a:ext cx="5890632" cy="4351338"/>
          </a:xfrm>
          <a:prstGeom prst="rect">
            <a:avLst/>
          </a:prstGeom>
        </p:spPr>
      </p:pic>
    </p:spTree>
    <p:extLst>
      <p:ext uri="{BB962C8B-B14F-4D97-AF65-F5344CB8AC3E}">
        <p14:creationId xmlns:p14="http://schemas.microsoft.com/office/powerpoint/2010/main" val="4035230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Sequence length distribution</a:t>
            </a:r>
          </a:p>
        </p:txBody>
      </p:sp>
      <p:pic>
        <p:nvPicPr>
          <p:cNvPr id="4" name="내용 개체 틀 3"/>
          <p:cNvPicPr>
            <a:picLocks noGrp="1" noChangeAspect="1"/>
          </p:cNvPicPr>
          <p:nvPr>
            <p:ph idx="1"/>
          </p:nvPr>
        </p:nvPicPr>
        <p:blipFill>
          <a:blip r:embed="rId2"/>
          <a:stretch>
            <a:fillRect/>
          </a:stretch>
        </p:blipFill>
        <p:spPr>
          <a:xfrm>
            <a:off x="470675" y="1852258"/>
            <a:ext cx="5782005" cy="4351338"/>
          </a:xfrm>
          <a:prstGeom prst="rect">
            <a:avLst/>
          </a:prstGeom>
        </p:spPr>
      </p:pic>
      <p:sp>
        <p:nvSpPr>
          <p:cNvPr id="3" name="직사각형 2">
            <a:extLst>
              <a:ext uri="{FF2B5EF4-FFF2-40B4-BE49-F238E27FC236}">
                <a16:creationId xmlns:a16="http://schemas.microsoft.com/office/drawing/2014/main" id="{A0FA8555-843D-4BDE-A7DA-9D8A4C2E2B0C}"/>
              </a:ext>
            </a:extLst>
          </p:cNvPr>
          <p:cNvSpPr/>
          <p:nvPr/>
        </p:nvSpPr>
        <p:spPr>
          <a:xfrm>
            <a:off x="6347534" y="2271334"/>
            <a:ext cx="5592932" cy="1754326"/>
          </a:xfrm>
          <a:prstGeom prst="rect">
            <a:avLst/>
          </a:prstGeom>
        </p:spPr>
        <p:txBody>
          <a:bodyPr wrap="square">
            <a:spAutoFit/>
          </a:bodyPr>
          <a:lstStyle/>
          <a:p>
            <a:r>
              <a:rPr lang="en-US" altLang="ko-KR" dirty="0">
                <a:solidFill>
                  <a:srgbClr val="000000"/>
                </a:solidFill>
                <a:latin typeface="Arial" panose="020B0604020202020204" pitchFamily="34" charset="0"/>
              </a:rPr>
              <a:t>This module will raise a warning if all sequences are not the same length.</a:t>
            </a:r>
          </a:p>
          <a:p>
            <a:endParaRPr lang="en-US" altLang="ko-KR" dirty="0">
              <a:solidFill>
                <a:srgbClr val="000000"/>
              </a:solidFill>
              <a:latin typeface="Arial" panose="020B0604020202020204" pitchFamily="34" charset="0"/>
            </a:endParaRPr>
          </a:p>
          <a:p>
            <a:r>
              <a:rPr lang="en-US" altLang="ko-KR" dirty="0"/>
              <a:t>For some sequencing platforms it is entirely normal to have different read lengths so warnings here can be ignored.</a:t>
            </a:r>
            <a:endParaRPr lang="ko-KR" altLang="en-US" dirty="0"/>
          </a:p>
        </p:txBody>
      </p:sp>
    </p:spTree>
    <p:extLst>
      <p:ext uri="{BB962C8B-B14F-4D97-AF65-F5344CB8AC3E}">
        <p14:creationId xmlns:p14="http://schemas.microsoft.com/office/powerpoint/2010/main" val="146153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Sequence duplication levels</a:t>
            </a:r>
          </a:p>
        </p:txBody>
      </p:sp>
      <p:pic>
        <p:nvPicPr>
          <p:cNvPr id="4" name="내용 개체 틀 3"/>
          <p:cNvPicPr>
            <a:picLocks noGrp="1" noChangeAspect="1"/>
          </p:cNvPicPr>
          <p:nvPr>
            <p:ph idx="1"/>
          </p:nvPr>
        </p:nvPicPr>
        <p:blipFill>
          <a:blip r:embed="rId2"/>
          <a:stretch>
            <a:fillRect/>
          </a:stretch>
        </p:blipFill>
        <p:spPr>
          <a:xfrm>
            <a:off x="3258743" y="1825625"/>
            <a:ext cx="5674513" cy="4351338"/>
          </a:xfrm>
          <a:prstGeom prst="rect">
            <a:avLst/>
          </a:prstGeom>
        </p:spPr>
      </p:pic>
    </p:spTree>
    <p:extLst>
      <p:ext uri="{BB962C8B-B14F-4D97-AF65-F5344CB8AC3E}">
        <p14:creationId xmlns:p14="http://schemas.microsoft.com/office/powerpoint/2010/main" val="2317933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Sequence duplication levels</a:t>
            </a:r>
            <a:endParaRPr lang="en-US" dirty="0"/>
          </a:p>
        </p:txBody>
      </p:sp>
      <p:sp>
        <p:nvSpPr>
          <p:cNvPr id="3" name="내용 개체 틀 2"/>
          <p:cNvSpPr>
            <a:spLocks noGrp="1"/>
          </p:cNvSpPr>
          <p:nvPr>
            <p:ph idx="1"/>
          </p:nvPr>
        </p:nvSpPr>
        <p:spPr/>
        <p:txBody>
          <a:bodyPr/>
          <a:lstStyle/>
          <a:p>
            <a:pPr latinLnBrk="0"/>
            <a:r>
              <a:rPr lang="en-US" dirty="0"/>
              <a:t>Example: 10 unique reads + 5 reads each present twice </a:t>
            </a:r>
          </a:p>
          <a:p>
            <a:pPr lvl="1" latinLnBrk="0"/>
            <a:r>
              <a:rPr lang="en-US" dirty="0"/>
              <a:t>Percent of </a:t>
            </a:r>
            <a:r>
              <a:rPr lang="en-US" dirty="0" err="1"/>
              <a:t>seqs</a:t>
            </a:r>
            <a:r>
              <a:rPr lang="en-US" dirty="0"/>
              <a:t> remaining if </a:t>
            </a:r>
            <a:r>
              <a:rPr lang="en-US" dirty="0" err="1"/>
              <a:t>deduplicated</a:t>
            </a:r>
            <a:r>
              <a:rPr lang="en-US" dirty="0"/>
              <a:t>: 15/20=75%</a:t>
            </a:r>
          </a:p>
          <a:p>
            <a:pPr lvl="1" latinLnBrk="0"/>
            <a:r>
              <a:rPr lang="en-US" dirty="0"/>
              <a:t>Blue line: 10 singletons (50%) at duplication level of 1 and 10 duplicates (50%) at duplication level of 2</a:t>
            </a:r>
          </a:p>
          <a:p>
            <a:pPr lvl="1" latinLnBrk="0"/>
            <a:r>
              <a:rPr lang="en-US" dirty="0"/>
              <a:t>Red line: 10 singletons (10/15=66%) at duplication level of 1 and 5 duplicates (5/15=33%) at duplication level of 2. </a:t>
            </a:r>
          </a:p>
          <a:p>
            <a:pPr lvl="1"/>
            <a:endParaRPr lang="en-US" dirty="0"/>
          </a:p>
          <a:p>
            <a:pPr marL="0" indent="0">
              <a:buNone/>
            </a:pPr>
            <a:endParaRPr lang="en-US" dirty="0"/>
          </a:p>
        </p:txBody>
      </p:sp>
    </p:spTree>
    <p:extLst>
      <p:ext uri="{BB962C8B-B14F-4D97-AF65-F5344CB8AC3E}">
        <p14:creationId xmlns:p14="http://schemas.microsoft.com/office/powerpoint/2010/main" val="3525107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Sequence duplication levels</a:t>
            </a:r>
            <a:endParaRPr lang="en-US" dirty="0"/>
          </a:p>
        </p:txBody>
      </p:sp>
      <p:sp>
        <p:nvSpPr>
          <p:cNvPr id="3" name="내용 개체 틀 2"/>
          <p:cNvSpPr>
            <a:spLocks noGrp="1"/>
          </p:cNvSpPr>
          <p:nvPr>
            <p:ph idx="1"/>
          </p:nvPr>
        </p:nvSpPr>
        <p:spPr/>
        <p:txBody>
          <a:bodyPr/>
          <a:lstStyle/>
          <a:p>
            <a:r>
              <a:rPr lang="en-US" dirty="0"/>
              <a:t>Duplication: same measurements in the data</a:t>
            </a:r>
          </a:p>
          <a:p>
            <a:endParaRPr lang="en-US" dirty="0"/>
          </a:p>
          <a:p>
            <a:r>
              <a:rPr lang="en-US"/>
              <a:t>Duplicates may </a:t>
            </a:r>
            <a:r>
              <a:rPr lang="en-US" dirty="0"/>
              <a:t>be correct measurements or errors.</a:t>
            </a:r>
          </a:p>
          <a:p>
            <a:pPr lvl="1"/>
            <a:r>
              <a:rPr lang="en-US" dirty="0"/>
              <a:t>Natural duplicates: identical fragments present in the sample</a:t>
            </a:r>
          </a:p>
          <a:p>
            <a:pPr lvl="1"/>
            <a:r>
              <a:rPr lang="en-US" dirty="0"/>
              <a:t>Artificial duplicates: produced artificially during PCR amplification</a:t>
            </a:r>
          </a:p>
          <a:p>
            <a:pPr lvl="1"/>
            <a:endParaRPr lang="en-US" dirty="0"/>
          </a:p>
          <a:p>
            <a:r>
              <a:rPr lang="en-US" dirty="0"/>
              <a:t>We can detect duplicates by</a:t>
            </a:r>
          </a:p>
          <a:p>
            <a:pPr lvl="1"/>
            <a:r>
              <a:rPr lang="en-US" dirty="0"/>
              <a:t>Sequence identity (sequences having the same sequence)</a:t>
            </a:r>
          </a:p>
          <a:p>
            <a:pPr lvl="1"/>
            <a:r>
              <a:rPr lang="en-US" dirty="0"/>
              <a:t>Alignment identity (sequences aligning the same way)</a:t>
            </a:r>
          </a:p>
        </p:txBody>
      </p:sp>
    </p:spTree>
    <p:extLst>
      <p:ext uri="{BB962C8B-B14F-4D97-AF65-F5344CB8AC3E}">
        <p14:creationId xmlns:p14="http://schemas.microsoft.com/office/powerpoint/2010/main" val="2923507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Sequence duplication levels</a:t>
            </a:r>
            <a:endParaRPr lang="en-US" dirty="0"/>
          </a:p>
        </p:txBody>
      </p:sp>
      <p:sp>
        <p:nvSpPr>
          <p:cNvPr id="3" name="내용 개체 틀 2"/>
          <p:cNvSpPr>
            <a:spLocks noGrp="1"/>
          </p:cNvSpPr>
          <p:nvPr>
            <p:ph idx="1"/>
          </p:nvPr>
        </p:nvSpPr>
        <p:spPr/>
        <p:txBody>
          <a:bodyPr/>
          <a:lstStyle/>
          <a:p>
            <a:pPr latinLnBrk="0"/>
            <a:r>
              <a:rPr lang="en-US" dirty="0"/>
              <a:t>For SNP calling and genomic variation detection, we usually remove duplicates since we assigns a reliability score to each variant based on the number of times it has been observed.</a:t>
            </a:r>
          </a:p>
          <a:p>
            <a:pPr latinLnBrk="0"/>
            <a:endParaRPr lang="en-US" dirty="0"/>
          </a:p>
          <a:p>
            <a:pPr latinLnBrk="0"/>
            <a:r>
              <a:rPr lang="en-US" dirty="0"/>
              <a:t>For other processes (e.g. RNA-</a:t>
            </a:r>
            <a:r>
              <a:rPr lang="en-US" dirty="0" err="1"/>
              <a:t>seq</a:t>
            </a:r>
            <a:r>
              <a:rPr lang="en-US" dirty="0"/>
              <a:t>), we do not remove duplicates.</a:t>
            </a:r>
          </a:p>
        </p:txBody>
      </p:sp>
    </p:spTree>
    <p:extLst>
      <p:ext uri="{BB962C8B-B14F-4D97-AF65-F5344CB8AC3E}">
        <p14:creationId xmlns:p14="http://schemas.microsoft.com/office/powerpoint/2010/main" val="1686272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t>Adapter content</a:t>
            </a:r>
          </a:p>
        </p:txBody>
      </p:sp>
      <p:pic>
        <p:nvPicPr>
          <p:cNvPr id="4" name="내용 개체 틀 3"/>
          <p:cNvPicPr>
            <a:picLocks noGrp="1" noChangeAspect="1"/>
          </p:cNvPicPr>
          <p:nvPr>
            <p:ph idx="1"/>
          </p:nvPr>
        </p:nvPicPr>
        <p:blipFill>
          <a:blip r:embed="rId2"/>
          <a:stretch>
            <a:fillRect/>
          </a:stretch>
        </p:blipFill>
        <p:spPr>
          <a:xfrm>
            <a:off x="2785341" y="1825625"/>
            <a:ext cx="6621318" cy="4351338"/>
          </a:xfrm>
          <a:prstGeom prst="rect">
            <a:avLst/>
          </a:prstGeom>
        </p:spPr>
      </p:pic>
    </p:spTree>
    <p:extLst>
      <p:ext uri="{BB962C8B-B14F-4D97-AF65-F5344CB8AC3E}">
        <p14:creationId xmlns:p14="http://schemas.microsoft.com/office/powerpoint/2010/main" val="18853761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Adapter content</a:t>
            </a:r>
            <a:endParaRPr lang="en-US" dirty="0"/>
          </a:p>
        </p:txBody>
      </p:sp>
      <p:sp>
        <p:nvSpPr>
          <p:cNvPr id="3" name="내용 개체 틀 2"/>
          <p:cNvSpPr>
            <a:spLocks noGrp="1"/>
          </p:cNvSpPr>
          <p:nvPr>
            <p:ph idx="1"/>
          </p:nvPr>
        </p:nvSpPr>
        <p:spPr/>
        <p:txBody>
          <a:bodyPr/>
          <a:lstStyle/>
          <a:p>
            <a:pPr latinLnBrk="0"/>
            <a:r>
              <a:rPr lang="en-US" dirty="0"/>
              <a:t>Many NGS aligners can automatically soft-clip adapters during alignment.</a:t>
            </a:r>
          </a:p>
          <a:p>
            <a:pPr latinLnBrk="0"/>
            <a:endParaRPr lang="en-US" dirty="0"/>
          </a:p>
          <a:p>
            <a:pPr latinLnBrk="0"/>
            <a:r>
              <a:rPr lang="en-US" dirty="0"/>
              <a:t>The presence of adapter sequences may cause substantial problems when assembling new genomes or transcriptomes. They should be removed prior to these processes.</a:t>
            </a:r>
          </a:p>
        </p:txBody>
      </p:sp>
    </p:spTree>
    <p:extLst>
      <p:ext uri="{BB962C8B-B14F-4D97-AF65-F5344CB8AC3E}">
        <p14:creationId xmlns:p14="http://schemas.microsoft.com/office/powerpoint/2010/main" val="2789976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err="1"/>
              <a:t>Kmer</a:t>
            </a:r>
            <a:r>
              <a:rPr lang="en-US" dirty="0"/>
              <a:t> content</a:t>
            </a:r>
          </a:p>
        </p:txBody>
      </p:sp>
      <p:pic>
        <p:nvPicPr>
          <p:cNvPr id="4" name="내용 개체 틀 3"/>
          <p:cNvPicPr>
            <a:picLocks noGrp="1" noChangeAspect="1"/>
          </p:cNvPicPr>
          <p:nvPr>
            <p:ph idx="1"/>
          </p:nvPr>
        </p:nvPicPr>
        <p:blipFill>
          <a:blip r:embed="rId2"/>
          <a:stretch>
            <a:fillRect/>
          </a:stretch>
        </p:blipFill>
        <p:spPr>
          <a:xfrm>
            <a:off x="2364860" y="1825625"/>
            <a:ext cx="7462279" cy="4351338"/>
          </a:xfrm>
          <a:prstGeom prst="rect">
            <a:avLst/>
          </a:prstGeom>
        </p:spPr>
      </p:pic>
    </p:spTree>
    <p:extLst>
      <p:ext uri="{BB962C8B-B14F-4D97-AF65-F5344CB8AC3E}">
        <p14:creationId xmlns:p14="http://schemas.microsoft.com/office/powerpoint/2010/main" val="3528537305"/>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2490</TotalTime>
  <Words>909</Words>
  <Application>Microsoft Office PowerPoint</Application>
  <PresentationFormat>와이드스크린</PresentationFormat>
  <Paragraphs>138</Paragraphs>
  <Slides>30</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30</vt:i4>
      </vt:variant>
    </vt:vector>
  </HeadingPairs>
  <TitlesOfParts>
    <vt:vector size="34" baseType="lpstr">
      <vt:lpstr>맑은 고딕</vt:lpstr>
      <vt:lpstr>Arial</vt:lpstr>
      <vt:lpstr>Courier New</vt:lpstr>
      <vt:lpstr>Office 테마</vt:lpstr>
      <vt:lpstr>Lecture 12</vt:lpstr>
      <vt:lpstr>Zika infected human samples</vt:lpstr>
      <vt:lpstr>Experimental design</vt:lpstr>
      <vt:lpstr>Experimental design</vt:lpstr>
      <vt:lpstr>Experimental design</vt:lpstr>
      <vt:lpstr>Get “runinfo”</vt:lpstr>
      <vt:lpstr>Get the FASTQ files</vt:lpstr>
      <vt:lpstr>Get the FASTQ files</vt:lpstr>
      <vt:lpstr>Get the FASTQ files</vt:lpstr>
      <vt:lpstr>Get the FASTQ files</vt:lpstr>
      <vt:lpstr>QC</vt:lpstr>
      <vt:lpstr>QC: FastQC</vt:lpstr>
      <vt:lpstr>FastQC</vt:lpstr>
      <vt:lpstr>How do we run FastQC?</vt:lpstr>
      <vt:lpstr>Basic Statistics</vt:lpstr>
      <vt:lpstr>Per base sequence quality</vt:lpstr>
      <vt:lpstr>Per base sequence quality</vt:lpstr>
      <vt:lpstr>Per sequence quality scores</vt:lpstr>
      <vt:lpstr>Per base sequence content</vt:lpstr>
      <vt:lpstr>Per base sequence content</vt:lpstr>
      <vt:lpstr>Per sequence GC content</vt:lpstr>
      <vt:lpstr>Per base N content</vt:lpstr>
      <vt:lpstr>Sequence length distribution</vt:lpstr>
      <vt:lpstr>Sequence duplication levels</vt:lpstr>
      <vt:lpstr>Sequence duplication levels</vt:lpstr>
      <vt:lpstr>Sequence duplication levels</vt:lpstr>
      <vt:lpstr>Sequence duplication levels</vt:lpstr>
      <vt:lpstr>Adapter content</vt:lpstr>
      <vt:lpstr>Adapter content</vt:lpstr>
      <vt:lpstr>Kmer 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RNA-seq</dc:title>
  <dc:creator>Jong Kyoung Kim</dc:creator>
  <cp:lastModifiedBy>정유진</cp:lastModifiedBy>
  <cp:revision>54</cp:revision>
  <dcterms:created xsi:type="dcterms:W3CDTF">2017-05-03T08:04:14Z</dcterms:created>
  <dcterms:modified xsi:type="dcterms:W3CDTF">2022-11-06T08:42:45Z</dcterms:modified>
</cp:coreProperties>
</file>